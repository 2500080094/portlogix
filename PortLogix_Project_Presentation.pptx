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1417320" cy="274320"/>
          </a:xfrm>
          <a:prstGeom prst="round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516636"/>
            <a:ext cx="13441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8142B"/>
                </a:solidFill>
                <a:latin typeface="Aptos"/>
              </a:rPr>
              <a:t>DSA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78992"/>
            <a:ext cx="5852160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F5F9FF"/>
                </a:solidFill>
                <a:latin typeface="Aptos"/>
              </a:rPr>
              <a:t>PORTLOGIX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31720"/>
            <a:ext cx="580644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AD3DE"/>
                </a:solidFill>
                <a:latin typeface="Aptos"/>
              </a:rPr>
              <a:t>Smart Port &amp; Cargo
Management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539496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B0C4DB"/>
                </a:solidFill>
                <a:latin typeface="Aptos"/>
              </a:rPr>
              <a:t>An intelligent port operations simulation powered by advanced data structures and algorithms.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394960" cy="150876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24528"/>
            <a:ext cx="2468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AD3DE"/>
                </a:solidFill>
                <a:latin typeface="Aptos"/>
              </a:rPr>
              <a:t>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17136"/>
            <a:ext cx="48920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9FF"/>
                </a:solidFill>
                <a:latin typeface="Aptos"/>
              </a:rPr>
              <a:t>[Add names and roll numbers]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19472"/>
            <a:ext cx="21945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AD3DE"/>
                </a:solidFill>
                <a:latin typeface="Aptos"/>
              </a:rPr>
              <a:t>FACULTY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57216"/>
            <a:ext cx="48920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9FF"/>
                </a:solidFill>
                <a:latin typeface="Aptos"/>
              </a:rPr>
              <a:t>[Add faculty name]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035040"/>
            <a:ext cx="56692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CSE  •  [College Name]  •  DSA / Algorithm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4295394"/>
            <a:ext cx="4521707" cy="757123"/>
          </a:xfrm>
          <a:prstGeom prst="rect">
            <a:avLst/>
          </a:prstGeom>
          <a:solidFill>
            <a:srgbClr val="0A4468"/>
          </a:solidFill>
          <a:ln w="12700">
            <a:solidFill>
              <a:srgbClr val="0A4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970014" y="4558283"/>
            <a:ext cx="525780" cy="0"/>
          </a:xfrm>
          <a:prstGeom prst="line">
            <a:avLst/>
          </a:prstGeom>
          <a:ln w="127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90230" y="4558283"/>
            <a:ext cx="525780" cy="0"/>
          </a:xfrm>
          <a:prstGeom prst="line">
            <a:avLst/>
          </a:prstGeom>
          <a:ln w="127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610447" y="4558283"/>
            <a:ext cx="525780" cy="0"/>
          </a:xfrm>
          <a:prstGeom prst="line">
            <a:avLst/>
          </a:prstGeom>
          <a:ln w="127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30664" y="4558283"/>
            <a:ext cx="525780" cy="0"/>
          </a:xfrm>
          <a:prstGeom prst="line">
            <a:avLst/>
          </a:prstGeom>
          <a:ln w="127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50881" y="4558283"/>
            <a:ext cx="525780" cy="0"/>
          </a:xfrm>
          <a:prstGeom prst="line">
            <a:avLst/>
          </a:prstGeom>
          <a:ln w="127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rapezoid 19"/>
          <p:cNvSpPr/>
          <p:nvPr/>
        </p:nvSpPr>
        <p:spPr>
          <a:xfrm>
            <a:off x="7338060" y="3559301"/>
            <a:ext cx="3154679" cy="841247"/>
          </a:xfrm>
          <a:prstGeom prst="trapezoid">
            <a:avLst/>
          </a:prstGeom>
          <a:solidFill>
            <a:srgbClr val="1A3F5E"/>
          </a:solidFill>
          <a:ln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950" y="2928365"/>
            <a:ext cx="441655" cy="315468"/>
          </a:xfrm>
          <a:prstGeom prst="rect">
            <a:avLst/>
          </a:prstGeom>
          <a:solidFill>
            <a:srgbClr val="2AD3DE"/>
          </a:solidFill>
          <a:ln>
            <a:solidFill>
              <a:srgbClr val="08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5698" y="2928365"/>
            <a:ext cx="441655" cy="315468"/>
          </a:xfrm>
          <a:prstGeom prst="rect">
            <a:avLst/>
          </a:prstGeom>
          <a:solidFill>
            <a:srgbClr val="579BFF"/>
          </a:solidFill>
          <a:ln>
            <a:solidFill>
              <a:srgbClr val="08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10447" y="2928365"/>
            <a:ext cx="441655" cy="315468"/>
          </a:xfrm>
          <a:prstGeom prst="rect">
            <a:avLst/>
          </a:prstGeom>
          <a:solidFill>
            <a:srgbClr val="26BEA4"/>
          </a:solidFill>
          <a:ln>
            <a:solidFill>
              <a:srgbClr val="08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15196" y="2928365"/>
            <a:ext cx="441655" cy="315468"/>
          </a:xfrm>
          <a:prstGeom prst="rect">
            <a:avLst/>
          </a:prstGeom>
          <a:solidFill>
            <a:srgbClr val="FFB547"/>
          </a:solidFill>
          <a:ln>
            <a:solidFill>
              <a:srgbClr val="08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19945" y="2928365"/>
            <a:ext cx="441655" cy="315468"/>
          </a:xfrm>
          <a:prstGeom prst="rect">
            <a:avLst/>
          </a:prstGeom>
          <a:solidFill>
            <a:srgbClr val="2AD3DE"/>
          </a:solidFill>
          <a:ln>
            <a:solidFill>
              <a:srgbClr val="08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950" y="2560320"/>
            <a:ext cx="441655" cy="315468"/>
          </a:xfrm>
          <a:prstGeom prst="rect">
            <a:avLst/>
          </a:prstGeom>
          <a:solidFill>
            <a:srgbClr val="579BFF"/>
          </a:solidFill>
          <a:ln>
            <a:solidFill>
              <a:srgbClr val="08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05698" y="2560320"/>
            <a:ext cx="441655" cy="315468"/>
          </a:xfrm>
          <a:prstGeom prst="rect">
            <a:avLst/>
          </a:prstGeom>
          <a:solidFill>
            <a:srgbClr val="26BEA4"/>
          </a:solidFill>
          <a:ln>
            <a:solidFill>
              <a:srgbClr val="08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10447" y="2560320"/>
            <a:ext cx="441655" cy="315468"/>
          </a:xfrm>
          <a:prstGeom prst="rect">
            <a:avLst/>
          </a:prstGeom>
          <a:solidFill>
            <a:srgbClr val="FFB547"/>
          </a:solidFill>
          <a:ln>
            <a:solidFill>
              <a:srgbClr val="08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15196" y="2560320"/>
            <a:ext cx="441655" cy="315468"/>
          </a:xfrm>
          <a:prstGeom prst="rect">
            <a:avLst/>
          </a:prstGeom>
          <a:solidFill>
            <a:srgbClr val="2AD3DE"/>
          </a:solidFill>
          <a:ln>
            <a:solidFill>
              <a:srgbClr val="08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19945" y="2560320"/>
            <a:ext cx="441655" cy="315468"/>
          </a:xfrm>
          <a:prstGeom prst="rect">
            <a:avLst/>
          </a:prstGeom>
          <a:solidFill>
            <a:srgbClr val="579BFF"/>
          </a:solidFill>
          <a:ln>
            <a:solidFill>
              <a:srgbClr val="08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0650474" y="1981962"/>
            <a:ext cx="0" cy="1629917"/>
          </a:xfrm>
          <a:prstGeom prst="line">
            <a:avLst/>
          </a:prstGeom>
          <a:ln w="50800"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598914" y="1981962"/>
            <a:ext cx="1524762" cy="0"/>
          </a:xfrm>
          <a:prstGeom prst="line">
            <a:avLst/>
          </a:prstGeom>
          <a:ln w="50800"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809226" y="1981962"/>
            <a:ext cx="0" cy="578358"/>
          </a:xfrm>
          <a:prstGeom prst="line">
            <a:avLst/>
          </a:prstGeom>
          <a:ln w="25400"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970014" y="1981962"/>
            <a:ext cx="126187" cy="126187"/>
          </a:xfrm>
          <a:prstGeom prst="ellipse">
            <a:avLst/>
          </a:prstGeom>
          <a:solidFill>
            <a:srgbClr val="68DEA3"/>
          </a:solidFill>
          <a:ln>
            <a:solidFill>
              <a:srgbClr val="68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63840" y="1613916"/>
            <a:ext cx="126187" cy="126187"/>
          </a:xfrm>
          <a:prstGeom prst="ellipse">
            <a:avLst/>
          </a:prstGeom>
          <a:solidFill>
            <a:srgbClr val="68DEA3"/>
          </a:solidFill>
          <a:ln>
            <a:solidFill>
              <a:srgbClr val="68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018520" y="2560320"/>
            <a:ext cx="126187" cy="126187"/>
          </a:xfrm>
          <a:prstGeom prst="ellipse">
            <a:avLst/>
          </a:prstGeom>
          <a:solidFill>
            <a:srgbClr val="68DEA3"/>
          </a:solidFill>
          <a:ln>
            <a:solidFill>
              <a:srgbClr val="68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917436" y="3822191"/>
            <a:ext cx="126187" cy="126187"/>
          </a:xfrm>
          <a:prstGeom prst="ellipse">
            <a:avLst/>
          </a:prstGeom>
          <a:solidFill>
            <a:srgbClr val="68DEA3"/>
          </a:solidFill>
          <a:ln>
            <a:solidFill>
              <a:srgbClr val="68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0" y="5074920"/>
            <a:ext cx="3749039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68DEA3"/>
                </a:solidFill>
                <a:latin typeface="Aptos"/>
              </a:rPr>
              <a:t>SEARCH  •  OPTIMIZE  •  CONNECT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5486400"/>
            <a:ext cx="36576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Six modules. One integrated platform.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5F9FF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859536"/>
            <a:ext cx="777240" cy="50292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758952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Why a smart port simulation is useful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B0C4DB"/>
                </a:solidFill>
                <a:latin typeface="Aptos"/>
              </a:rPr>
              <a:t>02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6858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0C4DB"/>
                </a:solidFill>
                <a:latin typeface="Aptos"/>
              </a:rPr>
              <a:t>PORTLOGIX  •  SMART PORT &amp; CARGO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5212080" cy="205740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25880"/>
            <a:ext cx="54864" cy="2057400"/>
          </a:xfrm>
          <a:prstGeom prst="rect">
            <a:avLst/>
          </a:prstGeom>
          <a:solidFill>
            <a:srgbClr val="FF6870"/>
          </a:solidFill>
          <a:ln w="12700">
            <a:solidFill>
              <a:srgbClr val="FF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44752"/>
            <a:ext cx="49194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9FF"/>
                </a:solidFill>
                <a:latin typeface="Aptos"/>
              </a:rPr>
              <a:t>THE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1828800"/>
            <a:ext cx="4937760" cy="1490472"/>
          </a:xfrm>
          <a:prstGeom prst="rect">
            <a:avLst/>
          </a:prstGeom>
          <a:noFill/>
        </p:spPr>
        <p:txBody>
          <a:bodyPr wrap="square" lIns="73152" rIns="54864" t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C4DB"/>
                </a:solidFill>
                <a:latin typeface="Aptos"/>
              </a:defRPr>
            </a:pPr>
            <a:r>
              <a:t>•  Large volumes of container and shipment records</a:t>
            </a:r>
          </a:p>
          <a:p>
            <a:pPr>
              <a:spcAft>
                <a:spcPts val="400"/>
              </a:spcAft>
              <a:defRPr sz="1300">
                <a:solidFill>
                  <a:srgbClr val="B0C4DB"/>
                </a:solidFill>
                <a:latin typeface="Aptos"/>
              </a:defRPr>
            </a:pPr>
            <a:r>
              <a:t>•  Hazardous cargo keywords need quick detection</a:t>
            </a:r>
          </a:p>
          <a:p>
            <a:pPr>
              <a:spcAft>
                <a:spcPts val="400"/>
              </a:spcAft>
              <a:defRPr sz="1300">
                <a:solidFill>
                  <a:srgbClr val="B0C4DB"/>
                </a:solidFill>
                <a:latin typeface="Aptos"/>
              </a:defRPr>
            </a:pPr>
            <a:r>
              <a:t>•  Resource allocation and network bottlenecks are complex</a:t>
            </a:r>
          </a:p>
          <a:p>
            <a:pPr>
              <a:spcAft>
                <a:spcPts val="400"/>
              </a:spcAft>
              <a:defRPr sz="1300">
                <a:solidFill>
                  <a:srgbClr val="B0C4DB"/>
                </a:solidFill>
                <a:latin typeface="Aptos"/>
              </a:defRPr>
            </a:pPr>
            <a:r>
              <a:t>•  Repeated text and query processing can be inefficient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349240" cy="205740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" cy="2057400"/>
          </a:xfrm>
          <a:prstGeom prst="rect">
            <a:avLst/>
          </a:prstGeom>
          <a:solidFill>
            <a:srgbClr val="26BEA4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444752"/>
            <a:ext cx="5056631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9FF"/>
                </a:solidFill>
                <a:latin typeface="Aptos"/>
              </a:rPr>
              <a:t>THE PORTLOGIX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1828800"/>
            <a:ext cx="5074920" cy="1490472"/>
          </a:xfrm>
          <a:prstGeom prst="rect">
            <a:avLst/>
          </a:prstGeom>
          <a:noFill/>
        </p:spPr>
        <p:txBody>
          <a:bodyPr wrap="square" lIns="73152" rIns="54864" t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C4DB"/>
                </a:solidFill>
                <a:latin typeface="Aptos"/>
              </a:defRPr>
            </a:pPr>
            <a:r>
              <a:t>•  Apply DSA techniques to port-related scenarios</a:t>
            </a:r>
          </a:p>
          <a:p>
            <a:pPr>
              <a:spcAft>
                <a:spcPts val="400"/>
              </a:spcAft>
              <a:defRPr sz="1300">
                <a:solidFill>
                  <a:srgbClr val="B0C4DB"/>
                </a:solidFill>
                <a:latin typeface="Aptos"/>
              </a:defRPr>
            </a:pPr>
            <a:r>
              <a:t>•  Search and index cargo information</a:t>
            </a:r>
          </a:p>
          <a:p>
            <a:pPr>
              <a:spcAft>
                <a:spcPts val="400"/>
              </a:spcAft>
              <a:defRPr sz="1300">
                <a:solidFill>
                  <a:srgbClr val="B0C4DB"/>
                </a:solidFill>
                <a:latin typeface="Aptos"/>
              </a:defRPr>
            </a:pPr>
            <a:r>
              <a:t>•  Model flow, matching, and security coverage</a:t>
            </a:r>
          </a:p>
          <a:p>
            <a:pPr>
              <a:spcAft>
                <a:spcPts val="400"/>
              </a:spcAft>
              <a:defRPr sz="1300">
                <a:solidFill>
                  <a:srgbClr val="B0C4DB"/>
                </a:solidFill>
                <a:latin typeface="Aptos"/>
              </a:defRPr>
            </a:pPr>
            <a:r>
              <a:t>•  Demonstrate randomized and parallel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AD3DE"/>
                </a:solidFill>
                <a:latin typeface="Aptos"/>
              </a:rPr>
              <a:t>PROJECT OBJECTIVES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160520"/>
            <a:ext cx="2606040" cy="1234440"/>
          </a:xfrm>
          <a:prstGeom prst="roundRect">
            <a:avLst/>
          </a:prstGeom>
          <a:solidFill>
            <a:srgbClr val="0D2241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5528" y="4315968"/>
            <a:ext cx="438912" cy="274320"/>
          </a:xfrm>
          <a:prstGeom prst="round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4329683"/>
            <a:ext cx="365759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8142B"/>
                </a:solidFill>
                <a:latin typeface="Apto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681728"/>
            <a:ext cx="2331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9FF"/>
                </a:solidFill>
                <a:latin typeface="Aptos"/>
              </a:rPr>
              <a:t>Fast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010912"/>
            <a:ext cx="2331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0C4DB"/>
                </a:solidFill>
                <a:latin typeface="Aptos"/>
              </a:rPr>
              <a:t>Find container IDs and alerts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11296" y="4160520"/>
            <a:ext cx="2606040" cy="1234440"/>
          </a:xfrm>
          <a:prstGeom prst="roundRect">
            <a:avLst/>
          </a:prstGeom>
          <a:solidFill>
            <a:srgbClr val="0D2241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48456" y="4315968"/>
            <a:ext cx="438912" cy="274320"/>
          </a:xfrm>
          <a:prstGeom prst="round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85031" y="4329683"/>
            <a:ext cx="365759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8142B"/>
                </a:solidFill>
                <a:latin typeface="Apto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48456" y="4681728"/>
            <a:ext cx="2331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9FF"/>
                </a:solidFill>
                <a:latin typeface="Aptos"/>
              </a:rPr>
              <a:t>Pattern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48456" y="5010912"/>
            <a:ext cx="2331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0C4DB"/>
                </a:solidFill>
                <a:latin typeface="Aptos"/>
              </a:rPr>
              <a:t>Index documents and repeated 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64224" y="4160520"/>
            <a:ext cx="2606040" cy="1234440"/>
          </a:xfrm>
          <a:prstGeom prst="roundRect">
            <a:avLst/>
          </a:prstGeom>
          <a:solidFill>
            <a:srgbClr val="0D2241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01384" y="4315968"/>
            <a:ext cx="438912" cy="274320"/>
          </a:xfrm>
          <a:prstGeom prst="round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329683"/>
            <a:ext cx="365759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8142B"/>
                </a:solidFill>
                <a:latin typeface="Apto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1384" y="4681728"/>
            <a:ext cx="2331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9FF"/>
                </a:solidFill>
                <a:latin typeface="Aptos"/>
              </a:rPr>
              <a:t>Optimization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1384" y="5010912"/>
            <a:ext cx="2331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0C4DB"/>
                </a:solidFill>
                <a:latin typeface="Aptos"/>
              </a:rPr>
              <a:t>Choose efficient solutions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17152" y="4160520"/>
            <a:ext cx="2606040" cy="1234440"/>
          </a:xfrm>
          <a:prstGeom prst="roundRect">
            <a:avLst/>
          </a:prstGeom>
          <a:solidFill>
            <a:srgbClr val="0D2241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54312" y="4315968"/>
            <a:ext cx="438912" cy="274320"/>
          </a:xfrm>
          <a:prstGeom prst="round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90888" y="4329683"/>
            <a:ext cx="365759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8142B"/>
                </a:solidFill>
                <a:latin typeface="Aptos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4312" y="4681728"/>
            <a:ext cx="2331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9FF"/>
                </a:solidFill>
                <a:latin typeface="Aptos"/>
              </a:rPr>
              <a:t>Network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54312" y="5010912"/>
            <a:ext cx="2331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0C4DB"/>
                </a:solidFill>
                <a:latin typeface="Aptos"/>
              </a:rPr>
              <a:t>Study flow and bottlenecks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68DEA3"/>
                </a:solidFill>
                <a:latin typeface="Aptos"/>
              </a:rPr>
              <a:t>Goal: connect classroom algorithms to understandable port and cargo management use cases.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5F9FF"/>
                </a:solidFill>
                <a:latin typeface="Aptos"/>
              </a:rPr>
              <a:t>Overall System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859536"/>
            <a:ext cx="777240" cy="50292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758952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From user selection to algorithm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B0C4DB"/>
                </a:solidFill>
                <a:latin typeface="Aptos"/>
              </a:rPr>
              <a:t>03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6858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0C4DB"/>
                </a:solidFill>
                <a:latin typeface="Aptos"/>
              </a:rPr>
              <a:t>PORTLOGIX  •  SMART PORT &amp; CARGO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874519" cy="658368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453896"/>
            <a:ext cx="1764791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5F9FF"/>
                </a:solidFill>
                <a:latin typeface="Aptos"/>
              </a:rPr>
              <a:t>1  Launch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417320"/>
            <a:ext cx="1874519" cy="658368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453896"/>
            <a:ext cx="1764791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5F9FF"/>
                </a:solidFill>
                <a:latin typeface="Aptos"/>
              </a:rPr>
              <a:t>2  Select operation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1417320"/>
            <a:ext cx="1874519" cy="658368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38344" y="1453896"/>
            <a:ext cx="1764791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5F9FF"/>
                </a:solidFill>
                <a:latin typeface="Aptos"/>
              </a:rPr>
              <a:t>3  Load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1417320"/>
            <a:ext cx="1874519" cy="658368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2903" y="1453896"/>
            <a:ext cx="1764791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5F9FF"/>
                </a:solidFill>
                <a:latin typeface="Aptos"/>
              </a:rPr>
              <a:t>4  Run algorithm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417320"/>
            <a:ext cx="2148840" cy="658368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7464" y="1453896"/>
            <a:ext cx="2039112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5F9FF"/>
                </a:solidFill>
                <a:latin typeface="Aptos"/>
              </a:rPr>
              <a:t>5  Display results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87168" y="1746504"/>
            <a:ext cx="246888" cy="0"/>
          </a:xfrm>
          <a:prstGeom prst="line">
            <a:avLst/>
          </a:prstGeom>
          <a:ln w="25400">
            <a:solidFill>
              <a:srgbClr val="26B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81727" y="1746504"/>
            <a:ext cx="246889" cy="0"/>
          </a:xfrm>
          <a:prstGeom prst="line">
            <a:avLst/>
          </a:prstGeom>
          <a:ln w="25400">
            <a:solidFill>
              <a:srgbClr val="26B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76288" y="1746504"/>
            <a:ext cx="246888" cy="0"/>
          </a:xfrm>
          <a:prstGeom prst="line">
            <a:avLst/>
          </a:prstGeom>
          <a:ln w="25400">
            <a:solidFill>
              <a:srgbClr val="26B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70847" y="1746504"/>
            <a:ext cx="246889" cy="0"/>
          </a:xfrm>
          <a:prstGeom prst="line">
            <a:avLst/>
          </a:prstGeom>
          <a:ln w="25400">
            <a:solidFill>
              <a:srgbClr val="26B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2468880"/>
            <a:ext cx="27432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D3DE"/>
                </a:solidFill>
                <a:latin typeface="Aptos"/>
              </a:rPr>
              <a:t>CHOOSE ONE OF SIX MODULES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971800"/>
            <a:ext cx="3337560" cy="658368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" y="3154680"/>
            <a:ext cx="438912" cy="274320"/>
          </a:xfrm>
          <a:prstGeom prst="round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3168396"/>
            <a:ext cx="365759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8142B"/>
                </a:solidFill>
                <a:latin typeface="Aptos"/>
              </a:rPr>
              <a:t>M1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3118104"/>
            <a:ext cx="242316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9FF"/>
                </a:solidFill>
                <a:latin typeface="Aptos"/>
              </a:rPr>
              <a:t>String search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2971800"/>
            <a:ext cx="3337560" cy="658368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57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63440" y="3154680"/>
            <a:ext cx="438912" cy="274320"/>
          </a:xfrm>
          <a:prstGeom prst="roundRect">
            <a:avLst/>
          </a:prstGeom>
          <a:solidFill>
            <a:srgbClr val="579BFF"/>
          </a:solidFill>
          <a:ln w="12700">
            <a:solidFill>
              <a:srgbClr val="57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3168396"/>
            <a:ext cx="365759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8142B"/>
                </a:solidFill>
                <a:latin typeface="Aptos"/>
              </a:rPr>
              <a:t>M2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9512" y="3118104"/>
            <a:ext cx="242316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9FF"/>
                </a:solidFill>
                <a:latin typeface="Aptos"/>
              </a:rPr>
              <a:t>Suffix structures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2971800"/>
            <a:ext cx="3337560" cy="658368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58200" y="3154680"/>
            <a:ext cx="438912" cy="274320"/>
          </a:xfrm>
          <a:prstGeom prst="roundRect">
            <a:avLst/>
          </a:prstGeom>
          <a:solidFill>
            <a:srgbClr val="26BEA4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94776" y="3168396"/>
            <a:ext cx="365759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8142B"/>
                </a:solidFill>
                <a:latin typeface="Aptos"/>
              </a:rPr>
              <a:t>M3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4272" y="3118104"/>
            <a:ext cx="242316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9FF"/>
                </a:solidFill>
                <a:latin typeface="Aptos"/>
              </a:rPr>
              <a:t>Dynamic programming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931920"/>
            <a:ext cx="3337560" cy="658368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8680" y="4114800"/>
            <a:ext cx="438912" cy="274320"/>
          </a:xfrm>
          <a:prstGeom prst="roundRect">
            <a:avLst/>
          </a:prstGeom>
          <a:solidFill>
            <a:srgbClr val="FFB547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" y="4128515"/>
            <a:ext cx="365759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8142B"/>
                </a:solidFill>
                <a:latin typeface="Aptos"/>
              </a:rPr>
              <a:t>M4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44752" y="4078224"/>
            <a:ext cx="242316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9FF"/>
                </a:solidFill>
                <a:latin typeface="Aptos"/>
              </a:rPr>
              <a:t>Network flow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6280" y="3931920"/>
            <a:ext cx="3337560" cy="658368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FF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663440" y="4114800"/>
            <a:ext cx="438912" cy="274320"/>
          </a:xfrm>
          <a:prstGeom prst="roundRect">
            <a:avLst/>
          </a:prstGeom>
          <a:solidFill>
            <a:srgbClr val="FF6870"/>
          </a:solidFill>
          <a:ln w="12700">
            <a:solidFill>
              <a:srgbClr val="FF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00016" y="4128515"/>
            <a:ext cx="365759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8142B"/>
                </a:solidFill>
                <a:latin typeface="Aptos"/>
              </a:rPr>
              <a:t>M5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9512" y="4078224"/>
            <a:ext cx="242316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9FF"/>
                </a:solidFill>
                <a:latin typeface="Aptos"/>
              </a:rPr>
              <a:t>NP-completeness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3931920"/>
            <a:ext cx="3337560" cy="658368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68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458200" y="4114800"/>
            <a:ext cx="438912" cy="274320"/>
          </a:xfrm>
          <a:prstGeom prst="roundRect">
            <a:avLst/>
          </a:prstGeom>
          <a:solidFill>
            <a:srgbClr val="68DEA3"/>
          </a:solidFill>
          <a:ln w="12700">
            <a:solidFill>
              <a:srgbClr val="68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94776" y="4128515"/>
            <a:ext cx="365759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8142B"/>
                </a:solidFill>
                <a:latin typeface="Aptos"/>
              </a:rPr>
              <a:t>M6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34272" y="4078224"/>
            <a:ext cx="242316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9FF"/>
                </a:solidFill>
                <a:latin typeface="Aptos"/>
              </a:rPr>
              <a:t>Randomized / parallel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442448" y="2121408"/>
            <a:ext cx="0" cy="219456"/>
          </a:xfrm>
          <a:prstGeom prst="line">
            <a:avLst/>
          </a:prstGeom>
          <a:ln w="25400">
            <a:solidFill>
              <a:srgbClr val="26B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498079" y="5166360"/>
            <a:ext cx="3886200" cy="594360"/>
          </a:xfrm>
          <a:prstGeom prst="roundRect">
            <a:avLst/>
          </a:prstGeom>
          <a:solidFill>
            <a:srgbClr val="10454F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35240" y="5285232"/>
            <a:ext cx="361188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5F9FF"/>
                </a:solidFill>
                <a:latin typeface="Aptos"/>
              </a:rPr>
              <a:t>Validate output • Repeat • Exit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5852160"/>
            <a:ext cx="64008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0C4DB"/>
                </a:solidFill>
                <a:latin typeface="Aptos"/>
              </a:rPr>
              <a:t>User selects an operation; PortLogix runs the corresponding algorithm on port-related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5F9FF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859536"/>
            <a:ext cx="777240" cy="50292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758952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Layered design of the Java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B0C4DB"/>
                </a:solidFill>
                <a:latin typeface="Aptos"/>
              </a:rPr>
              <a:t>04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6858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0C4DB"/>
                </a:solidFill>
                <a:latin typeface="Aptos"/>
              </a:rPr>
              <a:t>PORTLOGIX  •  SMART PORT &amp; CARGO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325880"/>
            <a:ext cx="7818120" cy="694944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435607"/>
            <a:ext cx="1920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AD3DE"/>
                </a:solidFill>
                <a:latin typeface="Aptos"/>
              </a:rPr>
              <a:t>USER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426464"/>
            <a:ext cx="55778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9FF"/>
                </a:solidFill>
                <a:latin typeface="Aptos"/>
              </a:rPr>
              <a:t>Java console  •  Java Swing dashboard  •  Visualizations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46320" y="2029967"/>
            <a:ext cx="0" cy="228601"/>
          </a:xfrm>
          <a:prstGeom prst="line">
            <a:avLst/>
          </a:prstGeom>
          <a:ln w="254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05840" y="2286000"/>
            <a:ext cx="7818120" cy="694944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57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395728"/>
            <a:ext cx="1920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79BFF"/>
                </a:solidFill>
                <a:latin typeface="Aptos"/>
              </a:rPr>
              <a:t>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86584"/>
            <a:ext cx="55778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9FF"/>
                </a:solidFill>
                <a:latin typeface="Aptos"/>
              </a:rPr>
              <a:t>PortLogixApp.java  •  Operation selection  •  Scenario execution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46320" y="2990088"/>
            <a:ext cx="0" cy="228600"/>
          </a:xfrm>
          <a:prstGeom prst="line">
            <a:avLst/>
          </a:prstGeom>
          <a:ln w="254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5840" y="3246120"/>
            <a:ext cx="7818120" cy="694944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355848"/>
            <a:ext cx="1920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BEA4"/>
                </a:solidFill>
                <a:latin typeface="Aptos"/>
              </a:rPr>
              <a:t>ALGORITHM 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346703"/>
            <a:ext cx="55778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9FF"/>
                </a:solidFill>
                <a:latin typeface="Aptos"/>
              </a:rPr>
              <a:t>M1 Strings  |  M2 Suffixes  |  M3 DP  |  M4 Flow  |  M5 Reductions  |  M6 Parallel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6320" y="3950208"/>
            <a:ext cx="0" cy="228600"/>
          </a:xfrm>
          <a:prstGeom prst="line">
            <a:avLst/>
          </a:prstGeom>
          <a:ln w="254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5840" y="4206240"/>
            <a:ext cx="7818120" cy="694944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315968"/>
            <a:ext cx="1920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B547"/>
                </a:solidFill>
                <a:latin typeface="Aptos"/>
              </a:rPr>
              <a:t>DATA &amp;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306824"/>
            <a:ext cx="55778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9FF"/>
                </a:solidFill>
                <a:latin typeface="Aptos"/>
              </a:rPr>
              <a:t>Containers  •  Shipments  •  Vessels  •  Facilities  •  Manifests  •  Port network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1508760"/>
            <a:ext cx="2240280" cy="1143000"/>
          </a:xfrm>
          <a:prstGeom prst="roundRect">
            <a:avLst/>
          </a:prstGeom>
          <a:solidFill>
            <a:srgbClr val="113D4E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1664208"/>
            <a:ext cx="1874519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6BEA4"/>
                </a:solidFill>
                <a:latin typeface="Aptos"/>
              </a:rPr>
              <a:t>TESTING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2011680"/>
            <a:ext cx="1874519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5F9FF"/>
                </a:solidFill>
                <a:latin typeface="Aptos"/>
              </a:rPr>
              <a:t>ComprehensiveTests.java
Automated validation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51392" y="1920240"/>
            <a:ext cx="384048" cy="0"/>
          </a:xfrm>
          <a:prstGeom prst="line">
            <a:avLst/>
          </a:prstGeom>
          <a:ln w="25400">
            <a:solidFill>
              <a:srgbClr val="26B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281160" y="3063240"/>
            <a:ext cx="2240280" cy="1143000"/>
          </a:xfrm>
          <a:prstGeom prst="roundRect">
            <a:avLst/>
          </a:prstGeom>
          <a:solidFill>
            <a:srgbClr val="0D2241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3246120"/>
            <a:ext cx="187451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AD3DE"/>
                </a:solidFill>
                <a:latin typeface="Aptos"/>
              </a:rPr>
              <a:t>TECH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3566160"/>
            <a:ext cx="1874519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5F9FF"/>
                </a:solidFill>
                <a:latin typeface="Aptos"/>
              </a:rPr>
              <a:t>Java • Swing
OOP • Standard libraries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532120"/>
            <a:ext cx="77724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68DEA3"/>
                </a:solidFill>
                <a:latin typeface="Aptos"/>
              </a:rPr>
              <a:t>Flow: interface → application logic → algorithm modules ↔ data models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98932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Testing validates algorithm outputs against expected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5F9FF"/>
                </a:solidFill>
                <a:latin typeface="Aptos"/>
              </a:rPr>
              <a:t>Module 1 — String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859536"/>
            <a:ext cx="777240" cy="50292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758952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CO1  |  Fast search and multi-pattern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B0C4DB"/>
                </a:solidFill>
                <a:latin typeface="Aptos"/>
              </a:rPr>
              <a:t>05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6858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0C4DB"/>
                </a:solidFill>
                <a:latin typeface="Aptos"/>
              </a:rPr>
              <a:t>PORTLOGIX  •  SMART PORT &amp; CARGO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971800" cy="1170432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54864" cy="1170432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536192"/>
            <a:ext cx="267919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9FF"/>
                </a:solidFill>
                <a:latin typeface="Aptos"/>
              </a:rPr>
              <a:t>KMP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920240"/>
            <a:ext cx="267919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Reuses prefix matches to avoid repeating comparisons.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1417320"/>
            <a:ext cx="2971800" cy="1170432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86200" y="1417320"/>
            <a:ext cx="54864" cy="1170432"/>
          </a:xfrm>
          <a:prstGeom prst="rect">
            <a:avLst/>
          </a:prstGeom>
          <a:solidFill>
            <a:srgbClr val="579BFF"/>
          </a:solidFill>
          <a:ln w="12700">
            <a:solidFill>
              <a:srgbClr val="57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50791" y="1536192"/>
            <a:ext cx="267919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9FF"/>
                </a:solidFill>
                <a:latin typeface="Aptos"/>
              </a:rPr>
              <a:t>Z-Algorithm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791" y="1920240"/>
            <a:ext cx="267919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Finds prefix matches and repeated patterns.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80360"/>
            <a:ext cx="2971800" cy="1170432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880360"/>
            <a:ext cx="54864" cy="1170432"/>
          </a:xfrm>
          <a:prstGeom prst="rect">
            <a:avLst/>
          </a:prstGeom>
          <a:solidFill>
            <a:srgbClr val="26BEA4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2999232"/>
            <a:ext cx="267919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9FF"/>
                </a:solidFill>
                <a:latin typeface="Aptos"/>
              </a:rPr>
              <a:t>Rabin–Karp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383280"/>
            <a:ext cx="267919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Uses rolling hashes to search shipment codes.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2880360"/>
            <a:ext cx="2971800" cy="1170432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86200" y="2880360"/>
            <a:ext cx="54864" cy="1170432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50791" y="2999232"/>
            <a:ext cx="267919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9FF"/>
                </a:solidFill>
                <a:latin typeface="Aptos"/>
              </a:rPr>
              <a:t>Aho–Corasick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0791" y="3383280"/>
            <a:ext cx="267919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Finds multiple alert keywords in one pass.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417320"/>
            <a:ext cx="4160520" cy="2926080"/>
          </a:xfrm>
          <a:prstGeom prst="roundRect">
            <a:avLst/>
          </a:prstGeom>
          <a:solidFill>
            <a:srgbClr val="0D2241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71231" y="1627632"/>
            <a:ext cx="3657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AD3DE"/>
                </a:solidFill>
                <a:latin typeface="Aptos"/>
              </a:rPr>
              <a:t>CARGO MANIFEST SCAN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103120"/>
            <a:ext cx="15087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0C4DB"/>
                </a:solidFill>
                <a:latin typeface="Aptos"/>
              </a:rPr>
              <a:t>Container 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2075688"/>
            <a:ext cx="1965960" cy="310896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68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2112263"/>
            <a:ext cx="17830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68DEA3"/>
                </a:solidFill>
                <a:latin typeface="Aptos"/>
              </a:rPr>
              <a:t>MSKU9012347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578608"/>
            <a:ext cx="15087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0C4DB"/>
                </a:solidFill>
                <a:latin typeface="Aptos"/>
              </a:rPr>
              <a:t>Cargo note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2551176"/>
            <a:ext cx="1965960" cy="310896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B0C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2587751"/>
            <a:ext cx="17830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B0C4DB"/>
                </a:solidFill>
                <a:latin typeface="Aptos"/>
              </a:rPr>
              <a:t>General machinery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054096"/>
            <a:ext cx="15087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0C4DB"/>
                </a:solidFill>
                <a:latin typeface="Aptos"/>
              </a:rPr>
              <a:t>Alert keyword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3026664"/>
            <a:ext cx="1965960" cy="310896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FF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20" y="3063239"/>
            <a:ext cx="17830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6870"/>
                </a:solidFill>
                <a:latin typeface="Aptos"/>
              </a:rPr>
              <a:t>EXPLOSIVE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3529584"/>
            <a:ext cx="15087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0C4DB"/>
                </a:solidFill>
                <a:latin typeface="Aptos"/>
              </a:rPr>
              <a:t>Alert keyword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80" y="3502152"/>
            <a:ext cx="1965960" cy="310896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3538727"/>
            <a:ext cx="17830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B547"/>
                </a:solidFill>
                <a:latin typeface="Aptos"/>
              </a:rPr>
              <a:t>RADIOACTIVE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800600"/>
            <a:ext cx="10744200" cy="777240"/>
          </a:xfrm>
          <a:prstGeom prst="roundRect">
            <a:avLst/>
          </a:prstGeom>
          <a:solidFill>
            <a:srgbClr val="0F4046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5010912"/>
            <a:ext cx="102412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5F9FF"/>
                </a:solidFill>
                <a:latin typeface="Aptos"/>
              </a:rPr>
              <a:t>KEY BENEFIT: efficient identifier search and faster detection of multiple security keywords.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870448"/>
            <a:ext cx="105156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B0C4DB"/>
                </a:solidFill>
                <a:latin typeface="Aptos"/>
              </a:rPr>
              <a:t>Illustrative examples only — use the project’s actual test data when demonstrating the application.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5F9FF"/>
                </a:solidFill>
                <a:latin typeface="Aptos"/>
              </a:rPr>
              <a:t>Module 2 — Suffix Structures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859536"/>
            <a:ext cx="777240" cy="50292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758952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CO2  |  Text indexing and repeated-pattern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B0C4DB"/>
                </a:solidFill>
                <a:latin typeface="Aptos"/>
              </a:rPr>
              <a:t>06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6858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0C4DB"/>
                </a:solidFill>
                <a:latin typeface="Aptos"/>
              </a:rPr>
              <a:t>PORTLOGIX  •  SMART PORT &amp; CARGO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3291840" cy="114300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1143000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44752"/>
            <a:ext cx="29992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9FF"/>
                </a:solidFill>
                <a:latin typeface="Aptos"/>
              </a:rPr>
              <a:t>Suffix Array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828800"/>
            <a:ext cx="2999232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Stores all suffixes in sorted order.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51760"/>
            <a:ext cx="3291840" cy="114300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651760"/>
            <a:ext cx="54864" cy="1143000"/>
          </a:xfrm>
          <a:prstGeom prst="rect">
            <a:avLst/>
          </a:prstGeom>
          <a:solidFill>
            <a:srgbClr val="579BFF"/>
          </a:solidFill>
          <a:ln w="12700">
            <a:solidFill>
              <a:srgbClr val="57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770632"/>
            <a:ext cx="29992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9FF"/>
                </a:solidFill>
                <a:latin typeface="Aptos"/>
              </a:rPr>
              <a:t>SA-IS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154680"/>
            <a:ext cx="2999232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Builds a suffix array using induced sorting.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77639"/>
            <a:ext cx="3291840" cy="114300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977639"/>
            <a:ext cx="54864" cy="1143000"/>
          </a:xfrm>
          <a:prstGeom prst="rect">
            <a:avLst/>
          </a:prstGeom>
          <a:solidFill>
            <a:srgbClr val="26BEA4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4096511"/>
            <a:ext cx="29992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9FF"/>
                </a:solidFill>
                <a:latin typeface="Aptos"/>
              </a:rPr>
              <a:t>Kasai LCP + Suffix Automaton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4480559"/>
            <a:ext cx="2999232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0C4DB"/>
                </a:solidFill>
                <a:latin typeface="Aptos"/>
              </a:rPr>
              <a:t>Computes neighboring common prefixes and represents substrings compactly.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325880"/>
            <a:ext cx="7086600" cy="4251960"/>
          </a:xfrm>
          <a:prstGeom prst="roundRect">
            <a:avLst/>
          </a:prstGeom>
          <a:solidFill>
            <a:srgbClr val="0D2241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1554480"/>
            <a:ext cx="64008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AD3DE"/>
                </a:solidFill>
                <a:latin typeface="Aptos"/>
              </a:rPr>
              <a:t>EXAMPLE STRING:  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2057400"/>
            <a:ext cx="1920240" cy="384048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57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2112264"/>
            <a:ext cx="160020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9FF"/>
                </a:solidFill>
                <a:latin typeface="Aptos"/>
              </a:rPr>
              <a:t>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112264"/>
            <a:ext cx="91440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0C4DB"/>
                </a:solidFill>
                <a:latin typeface="Aptos"/>
              </a:rPr>
              <a:t>start 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01000" y="2249424"/>
            <a:ext cx="457200" cy="0"/>
          </a:xfrm>
          <a:prstGeom prst="line">
            <a:avLst/>
          </a:prstGeom>
          <a:ln w="127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641080" y="2112264"/>
            <a:ext cx="219456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8DEA3"/>
                </a:solidFill>
                <a:latin typeface="Aptos"/>
              </a:rPr>
              <a:t>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60" y="2624328"/>
            <a:ext cx="1920240" cy="384048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2679192"/>
            <a:ext cx="160020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9FF"/>
                </a:solidFill>
                <a:latin typeface="Aptos"/>
              </a:rPr>
              <a:t>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679192"/>
            <a:ext cx="91440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0C4DB"/>
                </a:solidFill>
                <a:latin typeface="Aptos"/>
              </a:rPr>
              <a:t>start 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01000" y="2816352"/>
            <a:ext cx="457200" cy="0"/>
          </a:xfrm>
          <a:prstGeom prst="line">
            <a:avLst/>
          </a:prstGeom>
          <a:ln w="127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641080" y="2679192"/>
            <a:ext cx="219456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8DEA3"/>
                </a:solidFill>
                <a:latin typeface="Aptos"/>
              </a:rPr>
              <a:t>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09160" y="3191256"/>
            <a:ext cx="1920240" cy="384048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57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3246120"/>
            <a:ext cx="160020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9FF"/>
                </a:solidFill>
                <a:latin typeface="Aptos"/>
              </a:rPr>
              <a:t>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246120"/>
            <a:ext cx="91440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0C4DB"/>
                </a:solidFill>
                <a:latin typeface="Aptos"/>
              </a:rPr>
              <a:t>start 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001000" y="3383280"/>
            <a:ext cx="457200" cy="0"/>
          </a:xfrm>
          <a:prstGeom prst="line">
            <a:avLst/>
          </a:prstGeom>
          <a:ln w="127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641080" y="3246120"/>
            <a:ext cx="219456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8DEA3"/>
                </a:solidFill>
                <a:latin typeface="Aptos"/>
              </a:rPr>
              <a:t>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09160" y="3758183"/>
            <a:ext cx="1920240" cy="384048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3813047"/>
            <a:ext cx="160020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9FF"/>
                </a:solidFill>
                <a:latin typeface="Aptos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813047"/>
            <a:ext cx="91440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0C4DB"/>
                </a:solidFill>
                <a:latin typeface="Aptos"/>
              </a:rPr>
              <a:t>start 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001000" y="3950207"/>
            <a:ext cx="457200" cy="0"/>
          </a:xfrm>
          <a:prstGeom prst="line">
            <a:avLst/>
          </a:prstGeom>
          <a:ln w="127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641080" y="3813047"/>
            <a:ext cx="219456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8DEA3"/>
                </a:solidFill>
                <a:latin typeface="Aptos"/>
              </a:rPr>
              <a:t>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9160" y="4617720"/>
            <a:ext cx="6217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9FF"/>
                </a:solidFill>
                <a:latin typeface="Aptos"/>
              </a:rPr>
              <a:t>Sorted suffixes support substring queries and text comparisons.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897880"/>
            <a:ext cx="106070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0C4DB"/>
                </a:solidFill>
                <a:latin typeface="Aptos"/>
              </a:rPr>
              <a:t>Port use cases: customs-record search • repeated clauses • document pattern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5F9FF"/>
                </a:solidFill>
                <a:latin typeface="Aptos"/>
              </a:rPr>
              <a:t>Module 3 — Advanced Dynamic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859536"/>
            <a:ext cx="777240" cy="50292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758952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CO3  |  Optimization and text 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B0C4DB"/>
                </a:solidFill>
                <a:latin typeface="Aptos"/>
              </a:rPr>
              <a:t>07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6858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0C4DB"/>
                </a:solidFill>
                <a:latin typeface="Aptos"/>
              </a:rPr>
              <a:t>PORTLOGIX  •  SMART PORT &amp; CARGO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3383280" cy="132588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54864" cy="1325880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90472"/>
            <a:ext cx="30906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9FF"/>
                </a:solidFill>
                <a:latin typeface="Aptos"/>
              </a:rPr>
              <a:t>Damerau–Levenshtein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874519"/>
            <a:ext cx="3090672" cy="7315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Measures edit distance including transposition.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383280" cy="132588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54864" cy="1325880"/>
          </a:xfrm>
          <a:prstGeom prst="rect">
            <a:avLst/>
          </a:prstGeom>
          <a:solidFill>
            <a:srgbClr val="26BEA4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490472"/>
            <a:ext cx="30906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9FF"/>
                </a:solidFill>
                <a:latin typeface="Aptos"/>
              </a:rPr>
              <a:t>Bitmask DP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874519"/>
            <a:ext cx="3090672" cy="7315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Represents subsets to explore valid selections.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71800"/>
            <a:ext cx="3383280" cy="132588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971800"/>
            <a:ext cx="54864" cy="1325880"/>
          </a:xfrm>
          <a:prstGeom prst="rect">
            <a:avLst/>
          </a:prstGeom>
          <a:solidFill>
            <a:srgbClr val="579BFF"/>
          </a:solidFill>
          <a:ln w="12700">
            <a:solidFill>
              <a:srgbClr val="57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3090672"/>
            <a:ext cx="30906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9FF"/>
                </a:solidFill>
                <a:latin typeface="Aptos"/>
              </a:rPr>
              <a:t>Matrix-Chain Multiplication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74720"/>
            <a:ext cx="3090672" cy="7315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Chooses an efficient matrix multiplication order.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971800"/>
            <a:ext cx="3383280" cy="132588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2971800"/>
            <a:ext cx="54864" cy="1325880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3090672"/>
            <a:ext cx="30906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9FF"/>
                </a:solidFill>
                <a:latin typeface="Aptos"/>
              </a:rPr>
              <a:t>Optimal Binary Search Tree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3474720"/>
            <a:ext cx="3090672" cy="7315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Reduces expected search cost for frequent keys.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371600"/>
            <a:ext cx="3246120" cy="3703320"/>
          </a:xfrm>
          <a:prstGeom prst="roundRect">
            <a:avLst/>
          </a:prstGeom>
          <a:solidFill>
            <a:srgbClr val="0D2241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1600200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AD3DE"/>
                </a:solidFill>
                <a:latin typeface="Aptos"/>
              </a:rPr>
              <a:t>SMALL DP TABLE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2148840"/>
            <a:ext cx="521207" cy="41148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67928" y="2185416"/>
            <a:ext cx="484632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9FF"/>
                </a:solidFill>
                <a:latin typeface="Aptos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71432" y="2148840"/>
            <a:ext cx="521207" cy="41148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19" y="2185416"/>
            <a:ext cx="484632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9FF"/>
                </a:solidFill>
                <a:latin typeface="Aptos"/>
              </a:rPr>
              <a:t>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93224" y="2148840"/>
            <a:ext cx="521207" cy="41148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11511" y="2185416"/>
            <a:ext cx="484632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9FF"/>
                </a:solidFill>
                <a:latin typeface="Aptos"/>
              </a:rPr>
              <a:t>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15016" y="2148840"/>
            <a:ext cx="521207" cy="41148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33304" y="2185416"/>
            <a:ext cx="484632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9FF"/>
                </a:solidFill>
                <a:latin typeface="Aptos"/>
              </a:rPr>
              <a:t>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49640" y="2679192"/>
            <a:ext cx="521207" cy="41148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67928" y="2715768"/>
            <a:ext cx="484632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9FF"/>
                </a:solidFill>
                <a:latin typeface="Aptos"/>
              </a:rPr>
              <a:t>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71432" y="2679192"/>
            <a:ext cx="521207" cy="411480"/>
          </a:xfrm>
          <a:prstGeom prst="roundRect">
            <a:avLst/>
          </a:prstGeom>
          <a:solidFill>
            <a:srgbClr val="26BEA4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19" y="2715768"/>
            <a:ext cx="484632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9FF"/>
                </a:solidFill>
                <a:latin typeface="Aptos"/>
              </a:rPr>
              <a:t>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93224" y="2679192"/>
            <a:ext cx="521207" cy="41148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11511" y="2715768"/>
            <a:ext cx="484632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9FF"/>
                </a:solidFill>
                <a:latin typeface="Aptos"/>
              </a:rPr>
              <a:t>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15016" y="2679192"/>
            <a:ext cx="521207" cy="41148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33304" y="2715768"/>
            <a:ext cx="484632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9FF"/>
                </a:solidFill>
                <a:latin typeface="Aptos"/>
              </a:rPr>
              <a:t>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49640" y="3209544"/>
            <a:ext cx="521207" cy="41148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67928" y="3246120"/>
            <a:ext cx="484632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9FF"/>
                </a:solidFill>
                <a:latin typeface="Aptos"/>
              </a:rPr>
              <a:t>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71432" y="3209544"/>
            <a:ext cx="521207" cy="41148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9719" y="3246120"/>
            <a:ext cx="484632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9FF"/>
                </a:solidFill>
                <a:latin typeface="Aptos"/>
              </a:rPr>
              <a:t>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93224" y="3209544"/>
            <a:ext cx="521207" cy="411480"/>
          </a:xfrm>
          <a:prstGeom prst="roundRect">
            <a:avLst/>
          </a:prstGeom>
          <a:solidFill>
            <a:srgbClr val="26BEA4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11511" y="3246120"/>
            <a:ext cx="484632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9FF"/>
                </a:solidFill>
                <a:latin typeface="Aptos"/>
              </a:rPr>
              <a:t>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15016" y="3209544"/>
            <a:ext cx="521207" cy="41148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33304" y="3246120"/>
            <a:ext cx="484632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9FF"/>
                </a:solidFill>
                <a:latin typeface="Aptos"/>
              </a:rPr>
              <a:t>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49640" y="3739896"/>
            <a:ext cx="521207" cy="41148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67928" y="3776472"/>
            <a:ext cx="484632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9FF"/>
                </a:solidFill>
                <a:latin typeface="Aptos"/>
              </a:rPr>
              <a:t>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71432" y="3739896"/>
            <a:ext cx="521207" cy="41148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89719" y="3776472"/>
            <a:ext cx="484632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9FF"/>
                </a:solidFill>
                <a:latin typeface="Aptos"/>
              </a:rPr>
              <a:t>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93224" y="3739896"/>
            <a:ext cx="521207" cy="41148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11511" y="3776472"/>
            <a:ext cx="484632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9FF"/>
                </a:solidFill>
                <a:latin typeface="Aptos"/>
              </a:rPr>
              <a:t>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415016" y="3739896"/>
            <a:ext cx="521207" cy="411480"/>
          </a:xfrm>
          <a:prstGeom prst="roundRect">
            <a:avLst/>
          </a:prstGeom>
          <a:solidFill>
            <a:srgbClr val="26BEA4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33304" y="3776472"/>
            <a:ext cx="484632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9FF"/>
                </a:solidFill>
                <a:latin typeface="Aptos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5632" y="4434840"/>
            <a:ext cx="27432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DP stores smaller results
and reuses them.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4983480"/>
            <a:ext cx="7040880" cy="658368"/>
          </a:xfrm>
          <a:prstGeom prst="roundRect">
            <a:avLst/>
          </a:prstGeom>
          <a:solidFill>
            <a:srgbClr val="0F4046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5138928"/>
            <a:ext cx="6629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5F9FF"/>
                </a:solidFill>
                <a:latin typeface="Aptos"/>
              </a:rPr>
              <a:t>PORT APPLICATIONS: label correction • subset selection • query optimization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5925312"/>
            <a:ext cx="10698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B0C4DB"/>
                </a:solidFill>
                <a:latin typeface="Aptos"/>
              </a:rPr>
              <a:t>The table is a visual illustration of dynamic programming, not a claimed project output.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5F9FF"/>
                </a:solidFill>
                <a:latin typeface="Aptos"/>
              </a:rPr>
              <a:t>Module 4 — Network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859536"/>
            <a:ext cx="777240" cy="50292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758952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CO4  |  Throughput, matching, and bottleneck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B0C4DB"/>
                </a:solidFill>
                <a:latin typeface="Aptos"/>
              </a:rPr>
              <a:t>08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6858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0C4DB"/>
                </a:solidFill>
                <a:latin typeface="Aptos"/>
              </a:rPr>
              <a:t>PORTLOGIX  •  SMART PORT &amp; CARGO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3383280" cy="342900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3429000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44752"/>
            <a:ext cx="30906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9FF"/>
                </a:solidFill>
                <a:latin typeface="Aptos"/>
              </a:rPr>
              <a:t>ALGORITHMS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828800"/>
            <a:ext cx="3108960" cy="2862072"/>
          </a:xfrm>
          <a:prstGeom prst="rect">
            <a:avLst/>
          </a:prstGeom>
          <a:noFill/>
        </p:spPr>
        <p:txBody>
          <a:bodyPr wrap="square" lIns="73152" rIns="54864" tIns="36576" bIns="18288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C4DB"/>
                </a:solidFill>
                <a:latin typeface="Aptos"/>
              </a:defRPr>
            </a:pPr>
            <a:r>
              <a:t>•  Ford–Fulkerson: augmenting paths</a:t>
            </a:r>
          </a:p>
          <a:p>
            <a:pPr>
              <a:spcAft>
                <a:spcPts val="400"/>
              </a:spcAft>
              <a:defRPr sz="1200">
                <a:solidFill>
                  <a:srgbClr val="B0C4DB"/>
                </a:solidFill>
                <a:latin typeface="Aptos"/>
              </a:defRPr>
            </a:pPr>
            <a:r>
              <a:t>•  Edmonds–Karp: BFS-based paths</a:t>
            </a:r>
          </a:p>
          <a:p>
            <a:pPr>
              <a:spcAft>
                <a:spcPts val="400"/>
              </a:spcAft>
              <a:defRPr sz="1200">
                <a:solidFill>
                  <a:srgbClr val="B0C4DB"/>
                </a:solidFill>
                <a:latin typeface="Aptos"/>
              </a:defRPr>
            </a:pPr>
            <a:r>
              <a:t>•  Dinic: level graph + blocking flow</a:t>
            </a:r>
          </a:p>
          <a:p>
            <a:pPr>
              <a:spcAft>
                <a:spcPts val="400"/>
              </a:spcAft>
              <a:defRPr sz="1200">
                <a:solidFill>
                  <a:srgbClr val="B0C4DB"/>
                </a:solidFill>
                <a:latin typeface="Aptos"/>
              </a:defRPr>
            </a:pPr>
            <a:r>
              <a:t>•  Bipartite matching: assign resources</a:t>
            </a:r>
          </a:p>
          <a:p>
            <a:pPr>
              <a:spcAft>
                <a:spcPts val="400"/>
              </a:spcAft>
              <a:defRPr sz="1200">
                <a:solidFill>
                  <a:srgbClr val="B0C4DB"/>
                </a:solidFill>
                <a:latin typeface="Aptos"/>
              </a:defRPr>
            </a:pPr>
            <a:r>
              <a:t>•  Minimum cut: reveal bottlenecks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25880"/>
            <a:ext cx="7132320" cy="4160520"/>
          </a:xfrm>
          <a:prstGeom prst="roundRect">
            <a:avLst/>
          </a:prstGeom>
          <a:solidFill>
            <a:srgbClr val="0D2241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6400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D3DE"/>
                </a:solidFill>
                <a:latin typeface="Aptos"/>
              </a:rPr>
              <a:t>ILLUSTRATIVE PORT NETWORK  •  EDGE CAPACITY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5239512" y="2606040"/>
            <a:ext cx="1417320" cy="640080"/>
          </a:xfrm>
          <a:prstGeom prst="line">
            <a:avLst/>
          </a:prstGeom>
          <a:ln w="254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29300" y="2788920"/>
            <a:ext cx="320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5F9FF"/>
                </a:solidFill>
                <a:latin typeface="Aptos"/>
              </a:rPr>
              <a:t>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39512" y="3246120"/>
            <a:ext cx="1417320" cy="731520"/>
          </a:xfrm>
          <a:prstGeom prst="line">
            <a:avLst/>
          </a:prstGeom>
          <a:ln w="254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29300" y="3474720"/>
            <a:ext cx="320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5F9FF"/>
                </a:solidFill>
                <a:latin typeface="Aptos"/>
              </a:rPr>
              <a:t>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56832" y="2606040"/>
            <a:ext cx="1828800" cy="0"/>
          </a:xfrm>
          <a:prstGeom prst="line">
            <a:avLst/>
          </a:prstGeom>
          <a:ln w="25400">
            <a:solidFill>
              <a:srgbClr val="26B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52360" y="2468879"/>
            <a:ext cx="320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5F9FF"/>
                </a:solidFill>
                <a:latin typeface="Aptos"/>
              </a:rPr>
              <a:t>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56832" y="2606040"/>
            <a:ext cx="1828800" cy="1371600"/>
          </a:xfrm>
          <a:prstGeom prst="line">
            <a:avLst/>
          </a:prstGeom>
          <a:ln w="25400"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52360" y="3154680"/>
            <a:ext cx="320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5F9FF"/>
                </a:solidFill>
                <a:latin typeface="Aptos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656832" y="2606040"/>
            <a:ext cx="1828800" cy="1371600"/>
          </a:xfrm>
          <a:prstGeom prst="line">
            <a:avLst/>
          </a:prstGeom>
          <a:ln w="25400">
            <a:solidFill>
              <a:srgbClr val="26B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452360" y="3154680"/>
            <a:ext cx="320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5F9FF"/>
                </a:solidFill>
                <a:latin typeface="Aptos"/>
              </a:rPr>
              <a:t>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56832" y="3977640"/>
            <a:ext cx="1828800" cy="0"/>
          </a:xfrm>
          <a:prstGeom prst="line">
            <a:avLst/>
          </a:prstGeom>
          <a:ln w="25400">
            <a:solidFill>
              <a:srgbClr val="FF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52360" y="3840480"/>
            <a:ext cx="320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5F9FF"/>
                </a:solidFill>
                <a:latin typeface="Aptos"/>
              </a:rPr>
              <a:t>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2606040"/>
            <a:ext cx="2011679" cy="640080"/>
          </a:xfrm>
          <a:prstGeom prst="line">
            <a:avLst/>
          </a:prstGeom>
          <a:ln w="254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372600" y="2788920"/>
            <a:ext cx="320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5F9FF"/>
                </a:solidFill>
                <a:latin typeface="Aptos"/>
              </a:rPr>
              <a:t>6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8485632" y="3246120"/>
            <a:ext cx="2011679" cy="731520"/>
          </a:xfrm>
          <a:prstGeom prst="line">
            <a:avLst/>
          </a:prstGeom>
          <a:ln w="254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372600" y="3474720"/>
            <a:ext cx="320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5F9FF"/>
                </a:solidFill>
                <a:latin typeface="Aptos"/>
              </a:rPr>
              <a:t>7</a:t>
            </a:r>
          </a:p>
        </p:txBody>
      </p:sp>
      <p:sp>
        <p:nvSpPr>
          <p:cNvPr id="30" name="Oval 29"/>
          <p:cNvSpPr/>
          <p:nvPr/>
        </p:nvSpPr>
        <p:spPr>
          <a:xfrm>
            <a:off x="4983480" y="3063240"/>
            <a:ext cx="512064" cy="365760"/>
          </a:xfrm>
          <a:prstGeom prst="ellipse">
            <a:avLst/>
          </a:prstGeom>
          <a:solidFill>
            <a:srgbClr val="1A3A5B"/>
          </a:solidFill>
          <a:ln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3456432"/>
            <a:ext cx="10058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B0C4DB"/>
                </a:solidFill>
                <a:latin typeface="Aptos"/>
              </a:rPr>
              <a:t>Source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2423160"/>
            <a:ext cx="512064" cy="365760"/>
          </a:xfrm>
          <a:prstGeom prst="ellipse">
            <a:avLst/>
          </a:prstGeom>
          <a:solidFill>
            <a:srgbClr val="1A3A5B"/>
          </a:solidFill>
          <a:ln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2816352"/>
            <a:ext cx="10058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B0C4DB"/>
                </a:solidFill>
                <a:latin typeface="Aptos"/>
              </a:rPr>
              <a:t>Gate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0" y="3794760"/>
            <a:ext cx="512064" cy="365760"/>
          </a:xfrm>
          <a:prstGeom prst="ellipse">
            <a:avLst/>
          </a:prstGeom>
          <a:solidFill>
            <a:srgbClr val="1A3A5B"/>
          </a:solidFill>
          <a:ln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4187952"/>
            <a:ext cx="10058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B0C4DB"/>
                </a:solidFill>
                <a:latin typeface="Aptos"/>
              </a:rPr>
              <a:t>Yard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0" y="2423160"/>
            <a:ext cx="512064" cy="365760"/>
          </a:xfrm>
          <a:prstGeom prst="ellipse">
            <a:avLst/>
          </a:prstGeom>
          <a:solidFill>
            <a:srgbClr val="1A3A5B"/>
          </a:solidFill>
          <a:ln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1000" y="2816352"/>
            <a:ext cx="10058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B0C4DB"/>
                </a:solidFill>
                <a:latin typeface="Aptos"/>
              </a:rPr>
              <a:t>Crane</a:t>
            </a:r>
          </a:p>
        </p:txBody>
      </p:sp>
      <p:sp>
        <p:nvSpPr>
          <p:cNvPr id="38" name="Oval 37"/>
          <p:cNvSpPr/>
          <p:nvPr/>
        </p:nvSpPr>
        <p:spPr>
          <a:xfrm>
            <a:off x="8229600" y="3794760"/>
            <a:ext cx="512064" cy="365760"/>
          </a:xfrm>
          <a:prstGeom prst="ellipse">
            <a:avLst/>
          </a:prstGeom>
          <a:solidFill>
            <a:srgbClr val="1A3A5B"/>
          </a:solidFill>
          <a:ln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0" y="4187952"/>
            <a:ext cx="10058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B0C4DB"/>
                </a:solidFill>
                <a:latin typeface="Aptos"/>
              </a:rPr>
              <a:t>Inspection</a:t>
            </a:r>
          </a:p>
        </p:txBody>
      </p:sp>
      <p:sp>
        <p:nvSpPr>
          <p:cNvPr id="40" name="Oval 39"/>
          <p:cNvSpPr/>
          <p:nvPr/>
        </p:nvSpPr>
        <p:spPr>
          <a:xfrm>
            <a:off x="10241280" y="3063240"/>
            <a:ext cx="512064" cy="365760"/>
          </a:xfrm>
          <a:prstGeom prst="ellipse">
            <a:avLst/>
          </a:prstGeom>
          <a:solidFill>
            <a:srgbClr val="1A3A5B"/>
          </a:solidFill>
          <a:ln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12680" y="3456432"/>
            <a:ext cx="10058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B0C4DB"/>
                </a:solidFill>
                <a:latin typeface="Aptos"/>
              </a:rPr>
              <a:t>Sink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074920"/>
            <a:ext cx="32004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8DEA3"/>
                </a:solidFill>
                <a:latin typeface="Aptos"/>
              </a:rPr>
              <a:t>Use cases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413248"/>
            <a:ext cx="104241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0C4DB"/>
                </a:solidFill>
                <a:latin typeface="Aptos"/>
              </a:rPr>
              <a:t>Model cargo movement • estimate capacity • match containers to cranes • locate constrained links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5F9FF"/>
                </a:solidFill>
                <a:latin typeface="Aptos"/>
              </a:rPr>
              <a:t>Module 5 — NP-Completeness &amp; Reductions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859536"/>
            <a:ext cx="777240" cy="50292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758952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CO5  |  Hard decision problems and approximate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B0C4DB"/>
                </a:solidFill>
                <a:latin typeface="Aptos"/>
              </a:rPr>
              <a:t>09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6858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0C4DB"/>
                </a:solidFill>
                <a:latin typeface="Aptos"/>
              </a:rPr>
              <a:t>PORTLOGIX  •  SMART PORT &amp; CARGO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4846320" cy="123444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1234440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44752"/>
            <a:ext cx="45537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9FF"/>
                </a:solidFill>
                <a:latin typeface="Aptos"/>
              </a:rPr>
              <a:t>DPLL 3-SAT Solver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828800"/>
            <a:ext cx="4553712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Searches for a truth assignment that satisfies a Boolean formula.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88920"/>
            <a:ext cx="4846320" cy="123444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54864" cy="1234440"/>
          </a:xfrm>
          <a:prstGeom prst="rect">
            <a:avLst/>
          </a:prstGeom>
          <a:solidFill>
            <a:srgbClr val="579BFF"/>
          </a:solidFill>
          <a:ln w="12700">
            <a:solidFill>
              <a:srgbClr val="57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907791"/>
            <a:ext cx="45537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9FF"/>
                </a:solidFill>
                <a:latin typeface="Aptos"/>
              </a:rPr>
              <a:t>Reduction 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291839"/>
            <a:ext cx="4553712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3-SAT → CLIQUE; CLIQUE ↔ Independent Set ↔ Vertex Cover relationships.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51960"/>
            <a:ext cx="4846320" cy="123444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251960"/>
            <a:ext cx="54864" cy="1234440"/>
          </a:xfrm>
          <a:prstGeom prst="rect">
            <a:avLst/>
          </a:prstGeom>
          <a:solidFill>
            <a:srgbClr val="26BEA4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4370832"/>
            <a:ext cx="45537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9FF"/>
                </a:solidFill>
                <a:latin typeface="Aptos"/>
              </a:rPr>
              <a:t>Vertex Cover 2-Approximation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4754880"/>
            <a:ext cx="4553712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Finds a cover within a factor of two of the optimal size.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1325880"/>
            <a:ext cx="5440680" cy="4160520"/>
          </a:xfrm>
          <a:prstGeom prst="roundRect">
            <a:avLst/>
          </a:prstGeom>
          <a:solidFill>
            <a:srgbClr val="0D2241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600200"/>
            <a:ext cx="48463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AD3DE"/>
                </a:solidFill>
                <a:latin typeface="Aptos"/>
              </a:rPr>
              <a:t>SECURITY COVERAGE GRAPH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922007" y="2441448"/>
            <a:ext cx="1600201" cy="182880"/>
          </a:xfrm>
          <a:prstGeom prst="line">
            <a:avLst/>
          </a:prstGeom>
          <a:ln w="20320">
            <a:solidFill>
              <a:srgbClr val="B0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22007" y="2624328"/>
            <a:ext cx="594361" cy="1417320"/>
          </a:xfrm>
          <a:prstGeom prst="line">
            <a:avLst/>
          </a:prstGeom>
          <a:ln w="20320">
            <a:solidFill>
              <a:srgbClr val="B0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522208" y="2441448"/>
            <a:ext cx="1554480" cy="320040"/>
          </a:xfrm>
          <a:prstGeom prst="line">
            <a:avLst/>
          </a:prstGeom>
          <a:ln w="20320">
            <a:solidFill>
              <a:srgbClr val="B0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516368" y="2441448"/>
            <a:ext cx="1005840" cy="1600200"/>
          </a:xfrm>
          <a:prstGeom prst="line">
            <a:avLst/>
          </a:prstGeom>
          <a:ln w="20320">
            <a:solidFill>
              <a:srgbClr val="B0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522208" y="2441448"/>
            <a:ext cx="914400" cy="1645920"/>
          </a:xfrm>
          <a:prstGeom prst="line">
            <a:avLst/>
          </a:prstGeom>
          <a:ln w="20320">
            <a:solidFill>
              <a:srgbClr val="B0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9436608" y="2761488"/>
            <a:ext cx="640080" cy="1325880"/>
          </a:xfrm>
          <a:prstGeom prst="line">
            <a:avLst/>
          </a:prstGeom>
          <a:ln w="20320">
            <a:solidFill>
              <a:srgbClr val="B0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516368" y="4041648"/>
            <a:ext cx="1920240" cy="45720"/>
          </a:xfrm>
          <a:prstGeom prst="line">
            <a:avLst/>
          </a:prstGeom>
          <a:ln w="20320">
            <a:solidFill>
              <a:srgbClr val="B0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720840" y="2423160"/>
            <a:ext cx="438912" cy="438912"/>
          </a:xfrm>
          <a:prstGeom prst="ellipse">
            <a:avLst/>
          </a:prstGeom>
          <a:solidFill>
            <a:srgbClr val="1A3A5B"/>
          </a:solidFill>
          <a:ln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2478024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5F9FF"/>
                </a:solidFill>
                <a:latin typeface="Aptos"/>
              </a:rPr>
              <a:t>A</a:t>
            </a:r>
          </a:p>
        </p:txBody>
      </p:sp>
      <p:sp>
        <p:nvSpPr>
          <p:cNvPr id="31" name="Oval 30"/>
          <p:cNvSpPr/>
          <p:nvPr/>
        </p:nvSpPr>
        <p:spPr>
          <a:xfrm>
            <a:off x="8321040" y="2240280"/>
            <a:ext cx="438912" cy="438912"/>
          </a:xfrm>
          <a:prstGeom prst="ellipse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2295144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8142B"/>
                </a:solidFill>
                <a:latin typeface="Aptos"/>
              </a:rPr>
              <a:t>B</a:t>
            </a:r>
          </a:p>
        </p:txBody>
      </p:sp>
      <p:sp>
        <p:nvSpPr>
          <p:cNvPr id="33" name="Oval 32"/>
          <p:cNvSpPr/>
          <p:nvPr/>
        </p:nvSpPr>
        <p:spPr>
          <a:xfrm>
            <a:off x="9875520" y="2560320"/>
            <a:ext cx="438912" cy="438912"/>
          </a:xfrm>
          <a:prstGeom prst="ellipse">
            <a:avLst/>
          </a:prstGeom>
          <a:solidFill>
            <a:srgbClr val="1A3A5B"/>
          </a:solidFill>
          <a:ln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2615184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5F9FF"/>
                </a:solidFill>
                <a:latin typeface="Aptos"/>
              </a:rPr>
              <a:t>C</a:t>
            </a:r>
          </a:p>
        </p:txBody>
      </p:sp>
      <p:sp>
        <p:nvSpPr>
          <p:cNvPr id="35" name="Oval 34"/>
          <p:cNvSpPr/>
          <p:nvPr/>
        </p:nvSpPr>
        <p:spPr>
          <a:xfrm>
            <a:off x="7315200" y="3840480"/>
            <a:ext cx="438912" cy="438912"/>
          </a:xfrm>
          <a:prstGeom prst="ellipse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3895344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8142B"/>
                </a:solidFill>
                <a:latin typeface="Aptos"/>
              </a:rPr>
              <a:t>D</a:t>
            </a:r>
          </a:p>
        </p:txBody>
      </p:sp>
      <p:sp>
        <p:nvSpPr>
          <p:cNvPr id="37" name="Oval 36"/>
          <p:cNvSpPr/>
          <p:nvPr/>
        </p:nvSpPr>
        <p:spPr>
          <a:xfrm>
            <a:off x="9235440" y="3886200"/>
            <a:ext cx="438912" cy="438912"/>
          </a:xfrm>
          <a:prstGeom prst="ellipse">
            <a:avLst/>
          </a:prstGeom>
          <a:solidFill>
            <a:srgbClr val="1A3A5B"/>
          </a:solidFill>
          <a:ln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3941063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5F9FF"/>
                </a:solidFill>
                <a:latin typeface="Aptos"/>
              </a:rPr>
              <a:t>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46520" y="4754880"/>
            <a:ext cx="1508760" cy="274320"/>
          </a:xfrm>
          <a:prstGeom prst="roundRect">
            <a:avLst/>
          </a:prstGeom>
          <a:solidFill>
            <a:srgbClr val="FFB547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83096" y="4768596"/>
            <a:ext cx="1435607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8142B"/>
                </a:solidFill>
                <a:latin typeface="Aptos"/>
              </a:rPr>
              <a:t>Selected cover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4736592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0C4DB"/>
                </a:solidFill>
                <a:latin typeface="Aptos"/>
              </a:rPr>
              <a:t>Example: choose monitoring nodes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897880"/>
            <a:ext cx="105156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0C4DB"/>
                </a:solidFill>
                <a:latin typeface="Aptos"/>
              </a:rPr>
              <a:t>Application idea: represent conflicts and estimate locations for scanners or security cameras.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5F9FF"/>
                </a:solidFill>
                <a:latin typeface="Aptos"/>
              </a:rPr>
              <a:t>Module 6 — Randomized &amp; Parallel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859536"/>
            <a:ext cx="777240" cy="50292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758952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CO6  |  Data processing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B0C4DB"/>
                </a:solidFill>
                <a:latin typeface="Aptos"/>
              </a:rPr>
              <a:t>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6858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0C4DB"/>
                </a:solidFill>
                <a:latin typeface="Aptos"/>
              </a:rPr>
              <a:t>PORTLOGIX  •  SMART PORT &amp; CARGO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3474720" cy="123444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1234440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44752"/>
            <a:ext cx="31821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9FF"/>
                </a:solidFill>
                <a:latin typeface="Aptos"/>
              </a:rPr>
              <a:t>Randomized QuickSort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828800"/>
            <a:ext cx="3182112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Sorts using randomized pivots.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25880"/>
            <a:ext cx="3474720" cy="123444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25880"/>
            <a:ext cx="54864" cy="1234440"/>
          </a:xfrm>
          <a:prstGeom prst="rect">
            <a:avLst/>
          </a:prstGeom>
          <a:solidFill>
            <a:srgbClr val="579BFF"/>
          </a:solidFill>
          <a:ln w="12700">
            <a:solidFill>
              <a:srgbClr val="57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444752"/>
            <a:ext cx="31821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9FF"/>
                </a:solidFill>
                <a:latin typeface="Aptos"/>
              </a:rPr>
              <a:t>Reservoir Sampling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828800"/>
            <a:ext cx="3182112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Keeps a uniform sample from a stream.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325880"/>
            <a:ext cx="3474720" cy="123444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9" y="1325880"/>
            <a:ext cx="54864" cy="1234440"/>
          </a:xfrm>
          <a:prstGeom prst="rect">
            <a:avLst/>
          </a:prstGeom>
          <a:solidFill>
            <a:srgbClr val="26BEA4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1" y="1444752"/>
            <a:ext cx="31821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9FF"/>
                </a:solidFill>
                <a:latin typeface="Aptos"/>
              </a:rPr>
              <a:t>Miller–Rabin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1" y="1828800"/>
            <a:ext cx="3182112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Probabilistic primality test.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834639"/>
            <a:ext cx="3474720" cy="123444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834639"/>
            <a:ext cx="54864" cy="1234440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2953511"/>
            <a:ext cx="31821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9FF"/>
                </a:solidFill>
                <a:latin typeface="Aptos"/>
              </a:rPr>
              <a:t>Blelloch 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3337559"/>
            <a:ext cx="3182112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Computes prefix operations in parallel.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2834639"/>
            <a:ext cx="3474720" cy="123444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2834639"/>
            <a:ext cx="54864" cy="1234440"/>
          </a:xfrm>
          <a:prstGeom prst="rect">
            <a:avLst/>
          </a:prstGeom>
          <a:solidFill>
            <a:srgbClr val="68DEA3"/>
          </a:solidFill>
          <a:ln w="12700">
            <a:solidFill>
              <a:srgbClr val="68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2953511"/>
            <a:ext cx="31821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9FF"/>
                </a:solidFill>
                <a:latin typeface="Aptos"/>
              </a:rPr>
              <a:t>Parallel Reduction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3337559"/>
            <a:ext cx="3182112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Aggregates values across workers.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2834639"/>
            <a:ext cx="3474720" cy="123444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59" y="2834639"/>
            <a:ext cx="54864" cy="1234440"/>
          </a:xfrm>
          <a:prstGeom prst="rect">
            <a:avLst/>
          </a:prstGeom>
          <a:solidFill>
            <a:srgbClr val="FF6870"/>
          </a:solidFill>
          <a:ln w="12700">
            <a:solidFill>
              <a:srgbClr val="FF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1" y="2953511"/>
            <a:ext cx="31821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9FF"/>
                </a:solidFill>
                <a:latin typeface="Aptos"/>
              </a:rPr>
              <a:t>Brent's Theorem Simulator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1" y="3337559"/>
            <a:ext cx="3182112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Illustrates work and parallel depth.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572000"/>
            <a:ext cx="2011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AD3DE"/>
                </a:solidFill>
                <a:latin typeface="Aptos"/>
              </a:rPr>
              <a:t>INPUT RECORDS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956048"/>
            <a:ext cx="347472" cy="365760"/>
          </a:xfrm>
          <a:prstGeom prst="roundRect">
            <a:avLst/>
          </a:prstGeom>
          <a:solidFill>
            <a:srgbClr val="1A3A5B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261872" y="4956048"/>
            <a:ext cx="347472" cy="365760"/>
          </a:xfrm>
          <a:prstGeom prst="roundRect">
            <a:avLst/>
          </a:prstGeom>
          <a:solidFill>
            <a:srgbClr val="1A3A5B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700784" y="4956048"/>
            <a:ext cx="347472" cy="365760"/>
          </a:xfrm>
          <a:prstGeom prst="roundRect">
            <a:avLst/>
          </a:prstGeom>
          <a:solidFill>
            <a:srgbClr val="1A3A5B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139696" y="4956048"/>
            <a:ext cx="347472" cy="365760"/>
          </a:xfrm>
          <a:prstGeom prst="roundRect">
            <a:avLst/>
          </a:prstGeom>
          <a:solidFill>
            <a:srgbClr val="1A3A5B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578608" y="4956048"/>
            <a:ext cx="347472" cy="365760"/>
          </a:xfrm>
          <a:prstGeom prst="roundRect">
            <a:avLst/>
          </a:prstGeom>
          <a:solidFill>
            <a:srgbClr val="1A3A5B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3246120" y="5138928"/>
            <a:ext cx="731519" cy="0"/>
          </a:xfrm>
          <a:prstGeom prst="line">
            <a:avLst/>
          </a:prstGeom>
          <a:ln w="254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160520" y="4800600"/>
            <a:ext cx="777240" cy="64008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4956048"/>
            <a:ext cx="685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5F9FF"/>
                </a:solidFill>
                <a:latin typeface="Aptos"/>
              </a:rPr>
              <a:t>Worker 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20640" y="4800600"/>
            <a:ext cx="777240" cy="64008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66359" y="4956048"/>
            <a:ext cx="685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5F9FF"/>
                </a:solidFill>
                <a:latin typeface="Aptos"/>
              </a:rPr>
              <a:t>Worker 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80760" y="4800600"/>
            <a:ext cx="777240" cy="64008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79" y="4956048"/>
            <a:ext cx="685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5F9FF"/>
                </a:solidFill>
                <a:latin typeface="Aptos"/>
              </a:rPr>
              <a:t>Worker 3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132320" y="5138928"/>
            <a:ext cx="777240" cy="0"/>
          </a:xfrm>
          <a:prstGeom prst="line">
            <a:avLst/>
          </a:prstGeom>
          <a:ln w="254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092440" y="4800600"/>
            <a:ext cx="2148840" cy="640080"/>
          </a:xfrm>
          <a:prstGeom prst="roundRect">
            <a:avLst/>
          </a:prstGeom>
          <a:solidFill>
            <a:srgbClr val="0F4046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11312" y="4956048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9FF"/>
                </a:solidFill>
                <a:latin typeface="Aptos"/>
              </a:rPr>
              <a:t>Combined result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897880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0C4DB"/>
                </a:solidFill>
                <a:latin typeface="Aptos"/>
              </a:rPr>
              <a:t>Use cases: cargo sorting • event sampling • totals aggregation • parallelism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5F9FF"/>
                </a:solidFill>
                <a:latin typeface="Aptos"/>
              </a:rPr>
              <a:t>Implementation &amp; Graphical User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859536"/>
            <a:ext cx="777240" cy="50292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758952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Java implementation organized around six DSA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B0C4DB"/>
                </a:solidFill>
                <a:latin typeface="Aptos"/>
              </a:rPr>
              <a:t>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6858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0C4DB"/>
                </a:solidFill>
                <a:latin typeface="Aptos"/>
              </a:rPr>
              <a:t>PORTLOGIX  •  SMART PORT &amp; CARGO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6675120" cy="4389120"/>
          </a:xfrm>
          <a:prstGeom prst="roundRect">
            <a:avLst/>
          </a:prstGeom>
          <a:solidFill>
            <a:srgbClr val="071124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6675120" cy="475488"/>
          </a:xfrm>
          <a:prstGeom prst="rect">
            <a:avLst/>
          </a:prstGeom>
          <a:solidFill>
            <a:srgbClr val="1A3A5B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8" y="1481328"/>
            <a:ext cx="109728" cy="109728"/>
          </a:xfrm>
          <a:prstGeom prst="ellipse">
            <a:avLst/>
          </a:prstGeom>
          <a:solidFill>
            <a:srgbClr val="FF6870"/>
          </a:solidFill>
          <a:ln>
            <a:solidFill>
              <a:srgbClr val="FF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9848" y="1481328"/>
            <a:ext cx="109728" cy="109728"/>
          </a:xfrm>
          <a:prstGeom prst="ellipse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98448" y="1481328"/>
            <a:ext cx="109728" cy="109728"/>
          </a:xfrm>
          <a:prstGeom prst="ellipse">
            <a:avLst/>
          </a:prstGeom>
          <a:solidFill>
            <a:srgbClr val="68DEA3"/>
          </a:solidFill>
          <a:ln>
            <a:solidFill>
              <a:srgbClr val="68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1444752"/>
            <a:ext cx="43891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9FF"/>
                </a:solidFill>
                <a:latin typeface="Aptos"/>
              </a:rPr>
              <a:t>PORTLOGIX • DASHBOARD MOCKUP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2084831"/>
            <a:ext cx="2880360" cy="749808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2221991"/>
            <a:ext cx="384048" cy="274320"/>
          </a:xfrm>
          <a:prstGeom prst="round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2235708"/>
            <a:ext cx="310896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8142B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185415"/>
            <a:ext cx="214884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F9FF"/>
                </a:solidFill>
                <a:latin typeface="Aptos"/>
              </a:rPr>
              <a:t>String Search &amp; Security Scanner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2084831"/>
            <a:ext cx="2880360" cy="749808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57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60520" y="2221991"/>
            <a:ext cx="384048" cy="274320"/>
          </a:xfrm>
          <a:prstGeom prst="roundRect">
            <a:avLst/>
          </a:prstGeom>
          <a:solidFill>
            <a:srgbClr val="579BFF"/>
          </a:solidFill>
          <a:ln w="12700">
            <a:solidFill>
              <a:srgbClr val="57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7096" y="2235708"/>
            <a:ext cx="310896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8142B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185415"/>
            <a:ext cx="214884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F9FF"/>
                </a:solidFill>
                <a:latin typeface="Aptos"/>
              </a:rPr>
              <a:t>Suffix Indexing &amp; Document Similarity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3108960"/>
            <a:ext cx="2880360" cy="749808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5840" y="3246120"/>
            <a:ext cx="384048" cy="274320"/>
          </a:xfrm>
          <a:prstGeom prst="roundRect">
            <a:avLst/>
          </a:prstGeom>
          <a:solidFill>
            <a:srgbClr val="26BEA4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3259836"/>
            <a:ext cx="310896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8142B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209544"/>
            <a:ext cx="214884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F9FF"/>
                </a:solidFill>
                <a:latin typeface="Aptos"/>
              </a:rPr>
              <a:t>Dynamic Programming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50791" y="3108960"/>
            <a:ext cx="2880360" cy="749808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160520" y="3246120"/>
            <a:ext cx="384048" cy="274320"/>
          </a:xfrm>
          <a:prstGeom prst="roundRect">
            <a:avLst/>
          </a:prstGeom>
          <a:solidFill>
            <a:srgbClr val="FFB547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97096" y="3259836"/>
            <a:ext cx="310896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8142B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209544"/>
            <a:ext cx="214884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F9FF"/>
                </a:solidFill>
                <a:latin typeface="Aptos"/>
              </a:rPr>
              <a:t>Network Flow &amp; Bottlenecks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" y="4133087"/>
            <a:ext cx="2880360" cy="749808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FF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05840" y="4270248"/>
            <a:ext cx="384048" cy="274320"/>
          </a:xfrm>
          <a:prstGeom prst="roundRect">
            <a:avLst/>
          </a:prstGeom>
          <a:solidFill>
            <a:srgbClr val="FF6870"/>
          </a:solidFill>
          <a:ln w="12700">
            <a:solidFill>
              <a:srgbClr val="FF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416" y="4283964"/>
            <a:ext cx="310896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8142B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233672"/>
            <a:ext cx="214884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F9FF"/>
                </a:solidFill>
                <a:latin typeface="Aptos"/>
              </a:rPr>
              <a:t>NP-Completeness &amp; Sensor Coverage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50791" y="4133087"/>
            <a:ext cx="2880360" cy="749808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68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60520" y="4270248"/>
            <a:ext cx="384048" cy="274320"/>
          </a:xfrm>
          <a:prstGeom prst="roundRect">
            <a:avLst/>
          </a:prstGeom>
          <a:solidFill>
            <a:srgbClr val="68DEA3"/>
          </a:solidFill>
          <a:ln w="12700">
            <a:solidFill>
              <a:srgbClr val="68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97096" y="4283964"/>
            <a:ext cx="310896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8142B"/>
                </a:solidFill>
                <a:latin typeface="Aptos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4233672"/>
            <a:ext cx="214884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F9FF"/>
                </a:solidFill>
                <a:latin typeface="Aptos"/>
              </a:rPr>
              <a:t>Parallel Scans &amp; Analytics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26679" y="1325880"/>
            <a:ext cx="3749039" cy="128016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26679" y="1325880"/>
            <a:ext cx="54864" cy="1280160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91271" y="1444752"/>
            <a:ext cx="34564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9FF"/>
                </a:solidFill>
                <a:latin typeface="Aptos"/>
              </a:rPr>
              <a:t>Language &amp; UI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1271" y="1828800"/>
            <a:ext cx="3456432" cy="68579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0C4DB"/>
                </a:solidFill>
                <a:latin typeface="Aptos"/>
              </a:rPr>
              <a:t>Java • Java Swing • Console application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26679" y="2834640"/>
            <a:ext cx="3749039" cy="128016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26679" y="2834640"/>
            <a:ext cx="54864" cy="1280160"/>
          </a:xfrm>
          <a:prstGeom prst="rect">
            <a:avLst/>
          </a:prstGeom>
          <a:solidFill>
            <a:srgbClr val="579BFF"/>
          </a:solidFill>
          <a:ln w="12700">
            <a:solidFill>
              <a:srgbClr val="57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91271" y="2953512"/>
            <a:ext cx="34564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9FF"/>
                </a:solidFill>
                <a:latin typeface="Aptos"/>
              </a:rPr>
              <a:t>Project Structure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91271" y="3337560"/>
            <a:ext cx="3456432" cy="68579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0C4DB"/>
                </a:solidFill>
                <a:latin typeface="Aptos"/>
              </a:rPr>
              <a:t>Modular object-oriented implementation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26679" y="4343400"/>
            <a:ext cx="3749039" cy="128016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79" y="4343400"/>
            <a:ext cx="54864" cy="1280160"/>
          </a:xfrm>
          <a:prstGeom prst="rect">
            <a:avLst/>
          </a:prstGeom>
          <a:solidFill>
            <a:srgbClr val="26BEA4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91271" y="4462272"/>
            <a:ext cx="34564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9FF"/>
                </a:solidFill>
                <a:latin typeface="Aptos"/>
              </a:rPr>
              <a:t>Testing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91271" y="4846320"/>
            <a:ext cx="3456432" cy="68579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0C4DB"/>
                </a:solidFill>
                <a:latin typeface="Aptos"/>
              </a:rPr>
              <a:t>ComprehensiveTests.java for automated checks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989320"/>
            <a:ext cx="10698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B0C4DB"/>
                </a:solidFill>
                <a:latin typeface="Aptos"/>
              </a:rPr>
              <a:t>Note: this is an illustrative dashboard mockup, not a screenshot of the running application.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5F9FF"/>
                </a:solidFill>
                <a:latin typeface="Aptos"/>
              </a:rPr>
              <a:t>Testing, Benefits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859536"/>
            <a:ext cx="777240" cy="50292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758952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C4DB"/>
                </a:solidFill>
                <a:latin typeface="Aptos"/>
              </a:rPr>
              <a:t>What the project demonstrates and where it can grow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B0C4DB"/>
                </a:solidFill>
                <a:latin typeface="Aptos"/>
              </a:rPr>
              <a:t>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6858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0C4DB"/>
                </a:solidFill>
                <a:latin typeface="Aptos"/>
              </a:rPr>
              <a:t>PORTLOGIX  •  SMART PORT &amp; CARGO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3429000" cy="1874519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1874519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44752"/>
            <a:ext cx="313639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9FF"/>
                </a:solidFill>
                <a:latin typeface="Aptos"/>
              </a:rPr>
              <a:t>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828800"/>
            <a:ext cx="3154680" cy="1307591"/>
          </a:xfrm>
          <a:prstGeom prst="rect">
            <a:avLst/>
          </a:prstGeom>
          <a:noFill/>
        </p:spPr>
        <p:txBody>
          <a:bodyPr wrap="square" lIns="73152" rIns="54864" tIns="36576" b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C4DB"/>
                </a:solidFill>
                <a:latin typeface="Aptos"/>
              </a:defRPr>
            </a:pPr>
            <a:r>
              <a:t>•  Automated checks in ComprehensiveTests.java</a:t>
            </a:r>
          </a:p>
          <a:p>
            <a:pPr>
              <a:spcAft>
                <a:spcPts val="400"/>
              </a:spcAft>
              <a:defRPr sz="1100">
                <a:solidFill>
                  <a:srgbClr val="B0C4DB"/>
                </a:solidFill>
                <a:latin typeface="Aptos"/>
              </a:defRPr>
            </a:pPr>
            <a:r>
              <a:t>•  Compare outputs with expected results</a:t>
            </a:r>
          </a:p>
          <a:p>
            <a:pPr>
              <a:spcAft>
                <a:spcPts val="400"/>
              </a:spcAft>
              <a:defRPr sz="1100">
                <a:solidFill>
                  <a:srgbClr val="B0C4DB"/>
                </a:solidFill>
                <a:latin typeface="Aptos"/>
              </a:defRPr>
            </a:pPr>
            <a:r>
              <a:t>•  Verify individual algorithms and edge 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25880"/>
            <a:ext cx="3429000" cy="1874519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25880"/>
            <a:ext cx="54864" cy="1874519"/>
          </a:xfrm>
          <a:prstGeom prst="rect">
            <a:avLst/>
          </a:prstGeom>
          <a:solidFill>
            <a:srgbClr val="26BEA4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444752"/>
            <a:ext cx="313639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9FF"/>
                </a:solidFill>
                <a:latin typeface="Aptos"/>
              </a:rPr>
              <a:t>BENEFITS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828800"/>
            <a:ext cx="3154680" cy="1307591"/>
          </a:xfrm>
          <a:prstGeom prst="rect">
            <a:avLst/>
          </a:prstGeom>
          <a:noFill/>
        </p:spPr>
        <p:txBody>
          <a:bodyPr wrap="square" lIns="73152" rIns="54864" tIns="36576" b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C4DB"/>
                </a:solidFill>
                <a:latin typeface="Aptos"/>
              </a:defRPr>
            </a:pPr>
            <a:r>
              <a:t>•  Six DSA modules in one platform</a:t>
            </a:r>
          </a:p>
          <a:p>
            <a:pPr>
              <a:spcAft>
                <a:spcPts val="400"/>
              </a:spcAft>
              <a:defRPr sz="1100">
                <a:solidFill>
                  <a:srgbClr val="B0C4DB"/>
                </a:solidFill>
                <a:latin typeface="Aptos"/>
              </a:defRPr>
            </a:pPr>
            <a:r>
              <a:t>•  Real-world-inspired port scenarios</a:t>
            </a:r>
          </a:p>
          <a:p>
            <a:pPr>
              <a:spcAft>
                <a:spcPts val="400"/>
              </a:spcAft>
              <a:defRPr sz="1100">
                <a:solidFill>
                  <a:srgbClr val="B0C4DB"/>
                </a:solidFill>
                <a:latin typeface="Aptos"/>
              </a:defRPr>
            </a:pPr>
            <a:r>
              <a:t>•  Algorithm visualization and comparison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25880"/>
            <a:ext cx="3337560" cy="1874519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25880"/>
            <a:ext cx="54864" cy="1874519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444752"/>
            <a:ext cx="30449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9FF"/>
                </a:solidFill>
                <a:latin typeface="Aptos"/>
              </a:rPr>
              <a:t>FUTURE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1828800"/>
            <a:ext cx="3063240" cy="1307591"/>
          </a:xfrm>
          <a:prstGeom prst="rect">
            <a:avLst/>
          </a:prstGeom>
          <a:noFill/>
        </p:spPr>
        <p:txBody>
          <a:bodyPr wrap="square" lIns="73152" rIns="54864" tIns="36576" b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C4DB"/>
                </a:solidFill>
                <a:latin typeface="Aptos"/>
              </a:defRPr>
            </a:pPr>
            <a:r>
              <a:t>•  Real-time port data integration</a:t>
            </a:r>
          </a:p>
          <a:p>
            <a:pPr>
              <a:spcAft>
                <a:spcPts val="400"/>
              </a:spcAft>
              <a:defRPr sz="1100">
                <a:solidFill>
                  <a:srgbClr val="B0C4DB"/>
                </a:solidFill>
                <a:latin typeface="Aptos"/>
              </a:defRPr>
            </a:pPr>
            <a:r>
              <a:t>•  Persistent database</a:t>
            </a:r>
          </a:p>
          <a:p>
            <a:pPr>
              <a:spcAft>
                <a:spcPts val="400"/>
              </a:spcAft>
              <a:defRPr sz="1100">
                <a:solidFill>
                  <a:srgbClr val="B0C4DB"/>
                </a:solidFill>
                <a:latin typeface="Aptos"/>
              </a:defRPr>
            </a:pPr>
            <a:r>
              <a:t>•  Live tracking and congestion prediction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03320"/>
            <a:ext cx="10744200" cy="1463040"/>
          </a:xfrm>
          <a:prstGeom prst="roundRect">
            <a:avLst/>
          </a:prstGeom>
          <a:solidFill>
            <a:srgbClr val="0F4046"/>
          </a:solidFill>
          <a:ln w="12700">
            <a:solidFill>
              <a:srgbClr val="26B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950208"/>
            <a:ext cx="101498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68DEA3"/>
                </a:solidFill>
                <a:latin typeface="Aptos"/>
              </a:rPr>
              <a:t>CONCLUSION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389120"/>
            <a:ext cx="9875520" cy="5486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5F9FF"/>
                </a:solidFill>
                <a:latin typeface="Aptos"/>
              </a:rPr>
              <a:t>PortLogix connects advanced algorithms with a modular Java simulation of port operations, from searching cargo records to analyzing networks and parallel workloads.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623560"/>
            <a:ext cx="104241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B0C4DB"/>
                </a:solidFill>
                <a:latin typeface="Aptos"/>
              </a:rPr>
              <a:t>Testing note: the supplied brief mentions 45 automated tests; the actual pass count should be verified before presenting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0" y="4048048"/>
            <a:ext cx="4639665" cy="776874"/>
          </a:xfrm>
          <a:prstGeom prst="rect">
            <a:avLst/>
          </a:prstGeom>
          <a:solidFill>
            <a:srgbClr val="0A4468"/>
          </a:solidFill>
          <a:ln w="12700">
            <a:solidFill>
              <a:srgbClr val="0A4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745528" y="4317796"/>
            <a:ext cx="539496" cy="0"/>
          </a:xfrm>
          <a:prstGeom prst="line">
            <a:avLst/>
          </a:prstGeom>
          <a:ln w="127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587142" y="4317796"/>
            <a:ext cx="539496" cy="0"/>
          </a:xfrm>
          <a:prstGeom prst="line">
            <a:avLst/>
          </a:prstGeom>
          <a:ln w="127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428756" y="4317796"/>
            <a:ext cx="539496" cy="0"/>
          </a:xfrm>
          <a:prstGeom prst="line">
            <a:avLst/>
          </a:prstGeom>
          <a:ln w="127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270370" y="4317796"/>
            <a:ext cx="539496" cy="0"/>
          </a:xfrm>
          <a:prstGeom prst="line">
            <a:avLst/>
          </a:prstGeom>
          <a:ln w="127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111983" y="4317796"/>
            <a:ext cx="539496" cy="0"/>
          </a:xfrm>
          <a:prstGeom prst="line">
            <a:avLst/>
          </a:prstGeom>
          <a:ln w="12700">
            <a:solidFill>
              <a:srgbClr val="2A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rapezoid 8"/>
          <p:cNvSpPr/>
          <p:nvPr/>
        </p:nvSpPr>
        <p:spPr>
          <a:xfrm>
            <a:off x="7123176" y="3292754"/>
            <a:ext cx="3236976" cy="863193"/>
          </a:xfrm>
          <a:prstGeom prst="trapezoid">
            <a:avLst/>
          </a:prstGeom>
          <a:solidFill>
            <a:srgbClr val="1A3F5E"/>
          </a:solidFill>
          <a:ln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92924" y="2645359"/>
            <a:ext cx="453176" cy="323697"/>
          </a:xfrm>
          <a:prstGeom prst="rect">
            <a:avLst/>
          </a:prstGeom>
          <a:solidFill>
            <a:srgbClr val="2AD3DE"/>
          </a:solidFill>
          <a:ln>
            <a:solidFill>
              <a:srgbClr val="08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10840" y="2645359"/>
            <a:ext cx="453176" cy="323697"/>
          </a:xfrm>
          <a:prstGeom prst="rect">
            <a:avLst/>
          </a:prstGeom>
          <a:solidFill>
            <a:srgbClr val="579BFF"/>
          </a:solidFill>
          <a:ln>
            <a:solidFill>
              <a:srgbClr val="08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28756" y="2645359"/>
            <a:ext cx="453176" cy="323697"/>
          </a:xfrm>
          <a:prstGeom prst="rect">
            <a:avLst/>
          </a:prstGeom>
          <a:solidFill>
            <a:srgbClr val="26BEA4"/>
          </a:solidFill>
          <a:ln>
            <a:solidFill>
              <a:srgbClr val="08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46672" y="2645359"/>
            <a:ext cx="453176" cy="323697"/>
          </a:xfrm>
          <a:prstGeom prst="rect">
            <a:avLst/>
          </a:prstGeom>
          <a:solidFill>
            <a:srgbClr val="FFB547"/>
          </a:solidFill>
          <a:ln>
            <a:solidFill>
              <a:srgbClr val="08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588" y="2645359"/>
            <a:ext cx="453176" cy="323697"/>
          </a:xfrm>
          <a:prstGeom prst="rect">
            <a:avLst/>
          </a:prstGeom>
          <a:solidFill>
            <a:srgbClr val="2AD3DE"/>
          </a:solidFill>
          <a:ln>
            <a:solidFill>
              <a:srgbClr val="08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92924" y="2267712"/>
            <a:ext cx="453176" cy="323697"/>
          </a:xfrm>
          <a:prstGeom prst="rect">
            <a:avLst/>
          </a:prstGeom>
          <a:solidFill>
            <a:srgbClr val="579BFF"/>
          </a:solidFill>
          <a:ln>
            <a:solidFill>
              <a:srgbClr val="08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10840" y="2267712"/>
            <a:ext cx="453176" cy="323697"/>
          </a:xfrm>
          <a:prstGeom prst="rect">
            <a:avLst/>
          </a:prstGeom>
          <a:solidFill>
            <a:srgbClr val="26BEA4"/>
          </a:solidFill>
          <a:ln>
            <a:solidFill>
              <a:srgbClr val="08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28756" y="2267712"/>
            <a:ext cx="453176" cy="323697"/>
          </a:xfrm>
          <a:prstGeom prst="rect">
            <a:avLst/>
          </a:prstGeom>
          <a:solidFill>
            <a:srgbClr val="FFB547"/>
          </a:solidFill>
          <a:ln>
            <a:solidFill>
              <a:srgbClr val="08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46672" y="2267712"/>
            <a:ext cx="453176" cy="323697"/>
          </a:xfrm>
          <a:prstGeom prst="rect">
            <a:avLst/>
          </a:prstGeom>
          <a:solidFill>
            <a:srgbClr val="2AD3DE"/>
          </a:solidFill>
          <a:ln>
            <a:solidFill>
              <a:srgbClr val="08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64588" y="2267712"/>
            <a:ext cx="453176" cy="323697"/>
          </a:xfrm>
          <a:prstGeom prst="rect">
            <a:avLst/>
          </a:prstGeom>
          <a:solidFill>
            <a:srgbClr val="579BFF"/>
          </a:solidFill>
          <a:ln>
            <a:solidFill>
              <a:srgbClr val="08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0522000" y="1674266"/>
            <a:ext cx="0" cy="1672438"/>
          </a:xfrm>
          <a:prstGeom prst="line">
            <a:avLst/>
          </a:prstGeom>
          <a:ln w="50800"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443008" y="1674266"/>
            <a:ext cx="1564539" cy="0"/>
          </a:xfrm>
          <a:prstGeom prst="line">
            <a:avLst/>
          </a:prstGeom>
          <a:ln w="50800"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58807" y="1674266"/>
            <a:ext cx="0" cy="593446"/>
          </a:xfrm>
          <a:prstGeom prst="line">
            <a:avLst/>
          </a:prstGeom>
          <a:ln w="25400"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745528" y="1674266"/>
            <a:ext cx="129479" cy="129479"/>
          </a:xfrm>
          <a:prstGeom prst="ellipse">
            <a:avLst/>
          </a:prstGeom>
          <a:solidFill>
            <a:srgbClr val="68DEA3"/>
          </a:solidFill>
          <a:ln>
            <a:solidFill>
              <a:srgbClr val="68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62672" y="1296619"/>
            <a:ext cx="129479" cy="129479"/>
          </a:xfrm>
          <a:prstGeom prst="ellipse">
            <a:avLst/>
          </a:prstGeom>
          <a:solidFill>
            <a:srgbClr val="68DEA3"/>
          </a:solidFill>
          <a:ln>
            <a:solidFill>
              <a:srgbClr val="68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99648" y="2267712"/>
            <a:ext cx="129479" cy="129479"/>
          </a:xfrm>
          <a:prstGeom prst="ellipse">
            <a:avLst/>
          </a:prstGeom>
          <a:solidFill>
            <a:srgbClr val="68DEA3"/>
          </a:solidFill>
          <a:ln>
            <a:solidFill>
              <a:srgbClr val="68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1579" y="3562502"/>
            <a:ext cx="129479" cy="129479"/>
          </a:xfrm>
          <a:prstGeom prst="ellipse">
            <a:avLst/>
          </a:prstGeom>
          <a:solidFill>
            <a:srgbClr val="68DEA3"/>
          </a:solidFill>
          <a:ln>
            <a:solidFill>
              <a:srgbClr val="68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777240"/>
            <a:ext cx="1417320" cy="274320"/>
          </a:xfrm>
          <a:prstGeom prst="roundRect">
            <a:avLst/>
          </a:prstGeom>
          <a:solidFill>
            <a:srgbClr val="2AD3DE"/>
          </a:solidFill>
          <a:ln w="12700">
            <a:solidFill>
              <a:srgbClr val="2A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790956"/>
            <a:ext cx="134416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8142B"/>
                </a:solidFill>
                <a:latin typeface="Aptos"/>
              </a:rPr>
              <a:t>PORTLOGIX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1554480"/>
            <a:ext cx="521208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F5F9FF"/>
                </a:solidFill>
                <a:latin typeface="Aptos"/>
              </a:rPr>
              <a:t>THANK
YOU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337560"/>
            <a:ext cx="52120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AD3DE"/>
                </a:solidFill>
                <a:latin typeface="Aptos"/>
              </a:rPr>
              <a:t>Questions &amp; Discussion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977639"/>
            <a:ext cx="5303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B0C4DB"/>
                </a:solidFill>
                <a:latin typeface="Aptos"/>
              </a:rPr>
              <a:t>Smart Port &amp; Cargo Management Platform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800600"/>
            <a:ext cx="5120640" cy="822960"/>
          </a:xfrm>
          <a:prstGeom prst="roundRect">
            <a:avLst/>
          </a:prstGeom>
          <a:solidFill>
            <a:srgbClr val="142E4E"/>
          </a:solidFill>
          <a:ln w="12700">
            <a:solidFill>
              <a:srgbClr val="1A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965192"/>
            <a:ext cx="470916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F9FF"/>
                </a:solidFill>
                <a:latin typeface="Aptos"/>
              </a:rPr>
              <a:t>TEAM: [Add names]   •   FACULTY: [Add name]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080760"/>
            <a:ext cx="51206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8DEA3"/>
                </a:solidFill>
                <a:latin typeface="Aptos"/>
              </a:rPr>
              <a:t>SEARCH  •  OPTIMIZE  •  CONNECT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